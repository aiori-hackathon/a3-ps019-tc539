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2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We are Team Cipher, proposing FieldLedger for PS-019. It is a proposed design at planning stage.
SCRIPT: Good [morning]. We are Team Cipher from NFSU Guwahati, team code A3-PS019-TC539. Our problem is PS-019, Personal-Data Discovery and Privacy Evidence Inventory. Our proposed solution is FieldLedger. I will be explicit throughout about what is established by the official problem statement, what is our proposal, and what we still have to measure, because we are at the planning and repository-setup stage.
LIKELY QUESTION: Is anything built yet?
ANSWER: No. The repository is set up and the design is done; the implementation and evaluation are planned on slide 9. Everything about performance is a hypothesis to test.
LIMITATION: Presentation date shown is October 14, 2026; confirm the date required by the organizers.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Finding PII-like fields is only half the problem; the inventory must be linked to purpose and retention metadata and must be explainable.
SCRIPT: PS-019 starts from a familiar situation: personal-data fields pile up in tables and spreadsheets nobody documented. Finding them is step one. But a list of column names does not help a reviewer unless each field is tied to a declared purpose and retention schedule, and unless we can show why it was flagged. So FieldLedger proposes a scanner that produces an evidence-backed inventory, maps it to declared metadata, and reports the gaps, for a human to review. It explicitly does not decide legal compliance.
LIKELY QUESTION: Why not just detect PII?
ANSWER: The official challenge asks for detection plus linkage to purpose/retention and flagging missing metadata, so detection alone does not meet the requirement.
LIMITATION: We do not cite prevalence or cost statistics because we have not verified any.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We separate technical discovery from legal interpretation.
SCRIPT: Four ideas matter. Structured discovery looks at column names, values and schema to flag candidate fields. Metadata governance means the organization declares purpose and retention for its data, and missing declarations are a technical gap. Evidence-based review means every finding carries its reasons. And evaluation means we measure detection quality on labelled data. India's DPDP Act 2023 and the DPDP Rules 2025, notified in November 2025, are the regulatory backdrop and the problem statement points to MeitY's data protection framework. Our tool supports review; it does not interpret the law.
LIKELY QUESTION: Does FieldLedger make you DPDP compliant?
ANSWER: No. It produces a technical inventory and gap report. Compliance determinations need legal review; PS-019 explicitly excludes automatic lawful-basis determination.
LIMITATION: The notification date and rule number (13 November 2025, G.S.R. 846(E)) come from the official Gazette notification [2]. The MeitY framework page [1] is cited because PS-019 lists it; its text could not be extracted for checking, so no claim on this slide rests on it alone.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Name-plus-content detection already exists. Our claim is a hypothesis about the combination around it.
SCRIPT: We looked at four established options. Presidio has a structured-data package, which its documentation describes as alpha. PIICatcher scans column names and, optionally, sampled data using regex and NLP. OpenMetadata's auto-classification uses a column-name scanner plus sample-data recognition. DataHub is a metadata catalog that can attach tags, glossary terms and structured properties to fields. So we do not claim that combining name and content signals is new. Our hypothesis is that an offline, lightweight workflow that ties each finding to evidence, reports purpose and retention gaps, and reports per-class precision and recall is useful and testable. We have not verified that no tool can do this; we will test it by comparison.
LIKELY QUESTION: Why not just use PIICatcher or OpenMetadata?
ANSWER: They may well cover the detection part, and we would reuse ideas from them. PS-019 requires a configurable checklist, metadata mapping, gap reporting and per-class evaluation on a defined dataset; our work is to build and measure that end-to-end, and we will benchmark against name-only and content-only baselines.
LIMITATION: We only reviewed documentation pages and README excerpts, not run these tools. Statements that a feature is not described mean only that we did not find it in the pages reviewed. We have not verified every feature. No RFC/standard is cited yet (e.g., CSV format) because we did not verify one.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A simple, implementable pipeline where every step leaves evidence.
SCRIPT: The workflow runs left to right and top to bottom. We ingest synthetic CSVs and one SQLite database. Configurable rules combine column-name, content-pattern and schema signals. Each match becomes an evidence record: which rules fired, which signals, the match ratios, and a review status. We deliberately do not report confidence scores, because we have no validated method to calibrate them. We then map fields to declared purpose and retention metadata and flag gaps. The evidence checklist, covering purpose, retention, evidence source and review status, is our proposed reading of the configurable-checklist requirement. Finally we export a structured inventory and a gap report and, separately, evaluate detection per class against our manually labelled data. There is no LLM, cloud service or distributed infrastructure; it is deliberately buildable by a student team.
LIKELY QUESTION: What are the five data classes?
ANSWER: PS-019 says five predefined classes but the problem statement we have does not list them. The taxonomy will be configurable and aligned with the organizer's clarification; we do not present our provisional names as official.
LIMITATION: The checklist fields are our interpretation, not an organizer schema; we will confirm the format with the mentor. Detection is a technical signal, not proof of personal data; absence of a match does not prove absence.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is an experiment design, not a result.
SCRIPT: The template asks for before and after. We have nothing measured, so we show the comparison we will run. Baseline A uses column names only; baseline B uses content patterns only; C is our multi-signal approach; D adds metadata mapping and gap reporting on top of C. We will compare detection on a manually labelled synthetic set using raw TP, FP and FN counts and per-class precision and recall, and analyse the errors. For D we will seed known metadata gaps and check whether the report finds them.
LIKELY QUESTION: How do you know multi-signal is better?
ANSWER: We don't yet. It is a hypothesis; the experiment can also show that it is not better for some classes, and we will report that.
LIMITATION: Results depend on synthetic data we create, which may favour or disadvantage some rules; we will document label rules and report counts, not just percentages.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Nine components, one direction of flow.
SCRIPT: Follow the top row left to right (rule configuration, declared metadata and labelled ground truth are external inputs, named inside the boxes and in the caption): source adapters for CSV and SQLite feed the configurable rule engine, which feeds the evidence generator. The flow turns down into the metadata mapper, then left through the gap analyzer into the structured inventory. From there the evaluation component compares results to labelled ground truth, report generation produces the inventory, gap and evaluation outputs, and a human reviewer accepts, rejects or annotates findings.
LIKELY QUESTION: Is this a UML diagram?
ANSWER: The template names it that way; it is a component and processing-flow view. If required we can add a class-level UML after the data contracts are defined (slide 9, step 2).
LIMITATION: Component names are our design; the organizers have not mandated any architecture.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Inputs, configuration, intermediate observations and outputs are kept distinct.
SCRIPT: This is the companion to the architecture on the previous slide. On the left are inputs: synthetic CSVs, the SQLite database, declared purpose and retention metadata, plus two things we control, rule configuration and labelled ground truth. In the middle is processing, which happens in memory where feasible. On the right are four outputs: the structured inventory, the evidence-gap report, evaluation results, and human-review records. Reports store field names, rule identifiers and counts rather than raw values, as a design intent to limit exposure.
LIKELY QUESTION: Where does human review data go?
ANSWER: Review decisions are stored as separate records linked to findings, so the tool's output and the reviewer's decision are never mixed.
LIMITATION: "Not logged" is a design requirement we must test once implemented; some debug modes might need exceptions, which we would document.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An honest, ordered plan with no invented dates.
SCRIPT: We start by confirming requirements and the five class definitions with the organizers, because everything else depends on them. Then we fix data contracts and labelling rules, build the synthetic datasets and evaluation harness before the scanner, so measurement exists from the start. Next come ingestion, detection with evidence, metadata mapping and gap reporting, then exports and a minimal review interface, and finally testing, documentation and demo rehearsal. We have not fixed dates because the prototype deadline is not confirmed in the documents we hold.
LIKELY QUESTION: Can you finish in time?
ANSWER: The scope is deliberately small: CSV plus one SQLite DB, rules-based, no cloud or ML. If time is short we cut the review interface before cutting evaluation, because per-class evaluation is a stated requirement.
LIMITATION: Provisional. The PS also requires a private GitHub repo shared with aiori-hackathon and a prototype demo with a pseudocode snippet; schedule those once dates are known.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Only sources we actually opened and used.
SCRIPT: These seven sources support specific claims: the MeitY framework page listed in the problem statement, the official Gazette notification of the DPDP Rules 2025, what each existing tool documents, and the organizer requirements. We cite documentation for tool capabilities rather than blogs.
LIKELY QUESTION: Why no academic papers or RFCs?
ANSWER: We prioritized official documentation for tool capabilities and did not verify a specific paper or RFC for this deck; we would add primary research or CSV/format standards only after checking them.
LIMITATION: Documentation pages carry no publication date, so we give the access date. The Gazette notification [2] was opened and checked; the MeitY page [1] could not be text-extracted, so we cite it only as the page PS-019 lists.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Close with what we have and what we will prove.
SCRIPT: Thank you. To summarize: PS-019 asks for a scanner, an inventory, metadata mapping, gap reporting and per-class evaluation, without legal conclusions. FieldLedger is our plan for that, with an honest evaluation design. The repository link is on screen. We would welcome organizer clarification on the five classes.
LIKELY QUESTION: What will you show at the demo?
ANSWER: A run on synthetic CSV and SQLite data producing the inventory, gap report and per-class results, with a pseudocode snippet, as PS-019 requires; no live deployment is claimed.
LIMITATION: No deployed URL or live demo exists today.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hyperlink" Target="https://docs.datahub.com/docs/generated/metamodel/entities/schemafield-datahub" TargetMode="External"/><Relationship Id="rId3" Type="http://schemas.openxmlformats.org/officeDocument/2006/relationships/hyperlink" Target="https://www.meity.gov.in/data-protection-framework" TargetMode="External"/><Relationship Id="rId7" Type="http://schemas.openxmlformats.org/officeDocument/2006/relationships/hyperlink" Target="https://docs.open-metadata.org/latest/how-to-guides/data-governance/classification/auto-classification"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github.com/tokern/piicatcher" TargetMode="External"/><Relationship Id="rId5" Type="http://schemas.openxmlformats.org/officeDocument/2006/relationships/hyperlink" Target="https://microsoft.github.io/presidio/structured/" TargetMode="External"/><Relationship Id="rId4" Type="http://schemas.openxmlformats.org/officeDocument/2006/relationships/hyperlink" Target="https://www.meity.gov.in/static/uploads/2025/11/53450e6e5dc0bfa85ebd78686cadad39.pdf"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sudoyashvardhanvashistha/A3-PS019-TC539"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463040" y="347472"/>
            <a:ext cx="7772400" cy="274320"/>
          </a:xfrm>
          <a:prstGeom prst="rect">
            <a:avLst/>
          </a:prstGeom>
          <a:noFill/>
          <a:ln/>
        </p:spPr>
        <p:txBody>
          <a:bodyPr wrap="square" lIns="0" tIns="0" rIns="0" bIns="0" rtlCol="0" anchor="ctr"/>
          <a:lstStyle/>
          <a:p>
            <a:pPr marL="0" indent="0">
              <a:buNone/>
            </a:pPr>
            <a:r>
              <a:rPr lang="en-US" sz="1300" dirty="0">
                <a:solidFill>
                  <a:srgbClr val="4B5B70"/>
                </a:solidFill>
              </a:rPr>
              <a:t>AIORI-3 Hackathon 3  •  Category: Cybersecurity</a:t>
            </a:r>
            <a:endParaRPr lang="en-US" sz="1300" dirty="0"/>
          </a:p>
        </p:txBody>
      </p:sp>
      <p:sp>
        <p:nvSpPr>
          <p:cNvPr id="4" name="Text 2"/>
          <p:cNvSpPr txBox="1"/>
          <p:nvPr/>
        </p:nvSpPr>
        <p:spPr>
          <a:xfrm>
            <a:off x="640080" y="868680"/>
            <a:ext cx="7772400" cy="640080"/>
          </a:xfrm>
          <a:prstGeom prst="rect">
            <a:avLst/>
          </a:prstGeom>
          <a:noFill/>
          <a:ln/>
        </p:spPr>
        <p:txBody>
          <a:bodyPr wrap="square" lIns="0" tIns="0" rIns="0" bIns="0" rtlCol="0" anchor="ctr"/>
          <a:lstStyle/>
          <a:p>
            <a:pPr marL="0" indent="0">
              <a:buNone/>
            </a:pPr>
            <a:r>
              <a:rPr lang="en-US" sz="4000" b="1" dirty="0">
                <a:solidFill>
                  <a:srgbClr val="1B3FCC"/>
                </a:solidFill>
              </a:rPr>
              <a:t>A3-PS019-TC539</a:t>
            </a:r>
            <a:endParaRPr lang="en-US" sz="4000" dirty="0"/>
          </a:p>
        </p:txBody>
      </p:sp>
      <p:sp>
        <p:nvSpPr>
          <p:cNvPr id="5" name="Text 3"/>
          <p:cNvSpPr txBox="1"/>
          <p:nvPr/>
        </p:nvSpPr>
        <p:spPr>
          <a:xfrm>
            <a:off x="640080" y="1554480"/>
            <a:ext cx="7863840" cy="457200"/>
          </a:xfrm>
          <a:prstGeom prst="rect">
            <a:avLst/>
          </a:prstGeom>
          <a:noFill/>
          <a:ln/>
        </p:spPr>
        <p:txBody>
          <a:bodyPr wrap="square" lIns="0" tIns="0" rIns="0" bIns="0" rtlCol="0" anchor="ctr"/>
          <a:lstStyle/>
          <a:p>
            <a:pPr marL="0" indent="0">
              <a:buNone/>
            </a:pPr>
            <a:r>
              <a:rPr lang="en-US" sz="2200" b="1" dirty="0">
                <a:solidFill>
                  <a:srgbClr val="1E2A3B"/>
                </a:solidFill>
              </a:rPr>
              <a:t>PS-019: Personal-Data Discovery and Privacy Evidence Inventory</a:t>
            </a:r>
            <a:endParaRPr lang="en-US" sz="2200" dirty="0"/>
          </a:p>
        </p:txBody>
      </p:sp>
      <p:sp>
        <p:nvSpPr>
          <p:cNvPr id="6" name="Text 4"/>
          <p:cNvSpPr txBox="1"/>
          <p:nvPr/>
        </p:nvSpPr>
        <p:spPr>
          <a:xfrm>
            <a:off x="640080" y="2103120"/>
            <a:ext cx="7863840" cy="548640"/>
          </a:xfrm>
          <a:prstGeom prst="rect">
            <a:avLst/>
          </a:prstGeom>
          <a:noFill/>
          <a:ln/>
        </p:spPr>
        <p:txBody>
          <a:bodyPr wrap="square" lIns="0" tIns="0" rIns="0" bIns="0" rtlCol="0" anchor="ctr"/>
          <a:lstStyle/>
          <a:p>
            <a:pPr marL="0" indent="0">
              <a:buNone/>
            </a:pPr>
            <a:r>
              <a:rPr lang="en-US" sz="1500" dirty="0">
                <a:solidFill>
                  <a:srgbClr val="4B5B70"/>
                </a:solidFill>
              </a:rPr>
              <a:t>Proposed solution: </a:t>
            </a:r>
            <a:r>
              <a:rPr lang="en-US" sz="1500" b="1" dirty="0">
                <a:solidFill>
                  <a:srgbClr val="0A6F6A"/>
                </a:solidFill>
              </a:rPr>
              <a:t>FieldLedger</a:t>
            </a:r>
            <a:r>
              <a:rPr lang="en-US" sz="1500" dirty="0">
                <a:solidFill>
                  <a:srgbClr val="1E2A3B"/>
                </a:solidFill>
              </a:rPr>
              <a:t> — configurable, offline-first, evidence-backed discovery of candidate personal-data fields</a:t>
            </a:r>
            <a:endParaRPr lang="en-US" sz="1500" dirty="0"/>
          </a:p>
        </p:txBody>
      </p:sp>
      <p:sp>
        <p:nvSpPr>
          <p:cNvPr id="7" name="Shape 5"/>
          <p:cNvSpPr/>
          <p:nvPr/>
        </p:nvSpPr>
        <p:spPr>
          <a:xfrm>
            <a:off x="640080" y="2834640"/>
            <a:ext cx="7863840" cy="0"/>
          </a:xfrm>
          <a:prstGeom prst="line">
            <a:avLst/>
          </a:prstGeom>
          <a:noFill/>
          <a:ln w="12700">
            <a:solidFill>
              <a:srgbClr val="C5D3E6"/>
            </a:solidFill>
            <a:prstDash val="solid"/>
          </a:ln>
        </p:spPr>
      </p:sp>
      <p:sp>
        <p:nvSpPr>
          <p:cNvPr id="8" name="Text 6"/>
          <p:cNvSpPr txBox="1"/>
          <p:nvPr/>
        </p:nvSpPr>
        <p:spPr>
          <a:xfrm>
            <a:off x="640080" y="2971800"/>
            <a:ext cx="4754880" cy="1280160"/>
          </a:xfrm>
          <a:prstGeom prst="rect">
            <a:avLst/>
          </a:prstGeom>
          <a:noFill/>
          <a:ln/>
        </p:spPr>
        <p:txBody>
          <a:bodyPr wrap="square" lIns="0" tIns="0" rIns="0" bIns="0" rtlCol="0" anchor="t"/>
          <a:lstStyle/>
          <a:p>
            <a:pPr marL="0" indent="0">
              <a:buNone/>
            </a:pPr>
            <a:r>
              <a:rPr lang="en-US" sz="1600" b="1" dirty="0">
                <a:solidFill>
                  <a:srgbClr val="1E2A3B"/>
                </a:solidFill>
              </a:rPr>
              <a:t>Team Cipher</a:t>
            </a:r>
            <a:br>
              <a:rPr lang="en-US" sz="1600" b="1" dirty="0">
                <a:solidFill>
                  <a:srgbClr val="1E2A3B"/>
                </a:solidFill>
              </a:rPr>
            </a:br>
            <a:r>
              <a:rPr lang="en-US" sz="1400" dirty="0">
                <a:solidFill>
                  <a:srgbClr val="1E2A3B"/>
                </a:solidFill>
              </a:rPr>
              <a:t>Dr. </a:t>
            </a:r>
            <a:r>
              <a:rPr lang="en-US" sz="1400" dirty="0" err="1">
                <a:solidFill>
                  <a:srgbClr val="1E2A3B"/>
                </a:solidFill>
              </a:rPr>
              <a:t>Parthajit</a:t>
            </a:r>
            <a:r>
              <a:rPr lang="en-US" sz="1400" dirty="0">
                <a:solidFill>
                  <a:srgbClr val="1E2A3B"/>
                </a:solidFill>
              </a:rPr>
              <a:t> Borah, Mentor</a:t>
            </a:r>
          </a:p>
          <a:p>
            <a:pPr marL="0" indent="0">
              <a:buNone/>
            </a:pPr>
            <a:r>
              <a:rPr lang="en-US" sz="1400" dirty="0">
                <a:solidFill>
                  <a:srgbClr val="1E2A3B"/>
                </a:solidFill>
              </a:rPr>
              <a:t>Yashvardhan Vashishtha, Team Lead</a:t>
            </a:r>
            <a:br>
              <a:rPr lang="en-US" sz="1400" dirty="0">
                <a:solidFill>
                  <a:srgbClr val="1E2A3B"/>
                </a:solidFill>
              </a:rPr>
            </a:br>
            <a:r>
              <a:rPr lang="en-US" sz="1400" dirty="0">
                <a:solidFill>
                  <a:srgbClr val="1E2A3B"/>
                </a:solidFill>
              </a:rPr>
              <a:t>Gunagya Chaturvedi</a:t>
            </a:r>
            <a:endParaRPr lang="en-US" sz="1600" dirty="0"/>
          </a:p>
          <a:p>
            <a:pPr marL="0" indent="0">
              <a:buNone/>
            </a:pPr>
            <a:r>
              <a:rPr lang="en-US" sz="1400" dirty="0">
                <a:solidFill>
                  <a:srgbClr val="4B5B70"/>
                </a:solidFill>
              </a:rPr>
              <a:t>National Forensic Sciences University, Guwahati</a:t>
            </a:r>
            <a:endParaRPr lang="en-US" sz="1600" dirty="0"/>
          </a:p>
          <a:p>
            <a:pPr marL="0" indent="0">
              <a:buNone/>
            </a:pPr>
            <a:r>
              <a:rPr lang="en-US" sz="1400" dirty="0">
                <a:solidFill>
                  <a:srgbClr val="4B5B70"/>
                </a:solidFill>
              </a:rPr>
              <a:t>October 14, 2026</a:t>
            </a:r>
            <a:endParaRPr lang="en-US" sz="1600" dirty="0"/>
          </a:p>
        </p:txBody>
      </p:sp>
      <p:sp>
        <p:nvSpPr>
          <p:cNvPr id="9" name="Shape 7"/>
          <p:cNvSpPr/>
          <p:nvPr/>
        </p:nvSpPr>
        <p:spPr>
          <a:xfrm>
            <a:off x="5577840" y="3017520"/>
            <a:ext cx="2926080" cy="1051560"/>
          </a:xfrm>
          <a:prstGeom prst="roundRect">
            <a:avLst>
              <a:gd name="adj" fmla="val 5217"/>
            </a:avLst>
          </a:prstGeom>
          <a:solidFill>
            <a:srgbClr val="FFF6DD"/>
          </a:solidFill>
          <a:ln w="12700">
            <a:solidFill>
              <a:srgbClr val="C98A12"/>
            </a:solidFill>
            <a:prstDash val="solid"/>
          </a:ln>
        </p:spPr>
      </p:sp>
      <p:sp>
        <p:nvSpPr>
          <p:cNvPr id="10" name="Text 8"/>
          <p:cNvSpPr txBox="1"/>
          <p:nvPr/>
        </p:nvSpPr>
        <p:spPr>
          <a:xfrm>
            <a:off x="5687568" y="3072384"/>
            <a:ext cx="2706624" cy="941832"/>
          </a:xfrm>
          <a:prstGeom prst="rect">
            <a:avLst/>
          </a:prstGeom>
          <a:noFill/>
          <a:ln/>
        </p:spPr>
        <p:txBody>
          <a:bodyPr wrap="square" lIns="0" tIns="0" rIns="0" bIns="0" rtlCol="0" anchor="ctr"/>
          <a:lstStyle/>
          <a:p>
            <a:pPr marL="0" indent="0">
              <a:buNone/>
            </a:pPr>
            <a:r>
              <a:rPr lang="en-US" sz="1200" b="1" dirty="0">
                <a:solidFill>
                  <a:srgbClr val="8A5A00"/>
                </a:solidFill>
              </a:rPr>
              <a:t>Status: planning stage</a:t>
            </a:r>
            <a:endParaRPr lang="en-US" sz="1200" dirty="0"/>
          </a:p>
          <a:p>
            <a:pPr marL="0" indent="0">
              <a:buNone/>
            </a:pPr>
            <a:r>
              <a:rPr lang="en-US" sz="1200" dirty="0">
                <a:solidFill>
                  <a:srgbClr val="1E2A3B"/>
                </a:solidFill>
              </a:rPr>
              <a:t>Proposed design. Nothing implemented or measured yet; no results claimed.</a:t>
            </a:r>
            <a:endParaRPr lang="en-US" sz="1200" dirty="0"/>
          </a:p>
        </p:txBody>
      </p:sp>
      <p:pic>
        <p:nvPicPr>
          <p:cNvPr id="99" name="AIORI logo" descr="AIORI (Advanced Internet Operations Research in India) logo"/>
          <p:cNvPicPr>
            <a:picLocks noChangeAspect="1"/>
          </p:cNvPicPr>
          <p:nvPr/>
        </p:nvPicPr>
        <p:blipFill>
          <a:blip r:embed="rId3"/>
          <a:stretch>
            <a:fillRect/>
          </a:stretch>
        </p:blipFill>
        <p:spPr>
          <a:xfrm>
            <a:off x="640080" y="182880"/>
            <a:ext cx="621792" cy="61630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457200" y="128016"/>
            <a:ext cx="8229600" cy="256032"/>
          </a:xfrm>
          <a:prstGeom prst="rect">
            <a:avLst/>
          </a:prstGeom>
          <a:noFill/>
          <a:ln/>
        </p:spPr>
        <p:txBody>
          <a:bodyPr wrap="square" lIns="0" tIns="0" rIns="0" bIns="0" rtlCol="0" anchor="ctr"/>
          <a:lstStyle/>
          <a:p>
            <a:pPr marL="0" indent="0">
              <a:buNone/>
            </a:pPr>
            <a:r>
              <a:rPr lang="en-US" sz="1100" b="1" dirty="0">
                <a:solidFill>
                  <a:srgbClr val="1B3FCC"/>
                </a:solidFill>
              </a:rPr>
              <a:t>AIORI 3</a:t>
            </a:r>
            <a:r>
              <a:rPr lang="en-US" sz="1100" dirty="0">
                <a:solidFill>
                  <a:srgbClr val="4B5B70"/>
                </a:solidFill>
              </a:rPr>
              <a:t>   Abstract</a:t>
            </a:r>
            <a:endParaRPr lang="en-US" sz="1100" dirty="0"/>
          </a:p>
        </p:txBody>
      </p:sp>
      <p:sp>
        <p:nvSpPr>
          <p:cNvPr id="4" name="Text 2"/>
          <p:cNvSpPr txBox="1"/>
          <p:nvPr/>
        </p:nvSpPr>
        <p:spPr>
          <a:xfrm>
            <a:off x="457200" y="411480"/>
            <a:ext cx="8229600" cy="502920"/>
          </a:xfrm>
          <a:prstGeom prst="rect">
            <a:avLst/>
          </a:prstGeom>
          <a:noFill/>
          <a:ln/>
        </p:spPr>
        <p:txBody>
          <a:bodyPr wrap="square" lIns="0" tIns="0" rIns="0" bIns="0" rtlCol="0" anchor="ctr"/>
          <a:lstStyle/>
          <a:p>
            <a:pPr marL="0" indent="0">
              <a:buNone/>
            </a:pPr>
            <a:r>
              <a:rPr lang="en-US" sz="2800" b="1" dirty="0">
                <a:solidFill>
                  <a:srgbClr val="1B3FCC"/>
                </a:solidFill>
              </a:rPr>
              <a:t>Abstract</a:t>
            </a:r>
            <a:endParaRPr lang="en-US" sz="2800" dirty="0"/>
          </a:p>
        </p:txBody>
      </p:sp>
      <p:sp>
        <p:nvSpPr>
          <p:cNvPr id="5" name="Text 3"/>
          <p:cNvSpPr txBox="1"/>
          <p:nvPr/>
        </p:nvSpPr>
        <p:spPr>
          <a:xfrm>
            <a:off x="457200" y="914400"/>
            <a:ext cx="8229600" cy="320040"/>
          </a:xfrm>
          <a:prstGeom prst="rect">
            <a:avLst/>
          </a:prstGeom>
          <a:noFill/>
          <a:ln/>
        </p:spPr>
        <p:txBody>
          <a:bodyPr wrap="square" lIns="0" tIns="0" rIns="0" bIns="0" rtlCol="0" anchor="ctr"/>
          <a:lstStyle/>
          <a:p>
            <a:pPr marL="0" indent="0">
              <a:buNone/>
            </a:pPr>
            <a:r>
              <a:rPr lang="en-US" sz="1300" dirty="0">
                <a:solidFill>
                  <a:srgbClr val="4B5B70"/>
                </a:solidFill>
              </a:rPr>
              <a:t>Problem Description</a:t>
            </a:r>
            <a:endParaRPr lang="en-US" sz="1300" dirty="0"/>
          </a:p>
        </p:txBody>
      </p:sp>
      <p:sp>
        <p:nvSpPr>
          <p:cNvPr id="6" name="Text 4"/>
          <p:cNvSpPr txBox="1"/>
          <p:nvPr/>
        </p:nvSpPr>
        <p:spPr>
          <a:xfrm>
            <a:off x="457200" y="4800600"/>
            <a:ext cx="5486400" cy="228600"/>
          </a:xfrm>
          <a:prstGeom prst="rect">
            <a:avLst/>
          </a:prstGeom>
          <a:noFill/>
          <a:ln/>
        </p:spPr>
        <p:txBody>
          <a:bodyPr wrap="square" lIns="0" tIns="0" rIns="0" bIns="0" rtlCol="0" anchor="ctr"/>
          <a:lstStyle/>
          <a:p>
            <a:pPr marL="0" indent="0">
              <a:buNone/>
            </a:pPr>
            <a:r>
              <a:rPr lang="en-US" sz="1000" dirty="0">
                <a:solidFill>
                  <a:srgbClr val="4B5B70"/>
                </a:solidFill>
              </a:rPr>
              <a:t>Y. Vashishtha  •  A3-PS019-TC539  •  October 14, 2026</a:t>
            </a:r>
            <a:endParaRPr lang="en-US" sz="1000" dirty="0"/>
          </a:p>
        </p:txBody>
      </p:sp>
      <p:sp>
        <p:nvSpPr>
          <p:cNvPr id="7" name="Text 5"/>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en-US" sz="1000" dirty="0">
                <a:solidFill>
                  <a:srgbClr val="4B5B70"/>
                </a:solidFill>
              </a:rPr>
              <a:t>2 / 11</a:t>
            </a:r>
            <a:endParaRPr lang="en-US" sz="1000" dirty="0"/>
          </a:p>
        </p:txBody>
      </p:sp>
      <p:sp>
        <p:nvSpPr>
          <p:cNvPr id="8" name="Text 6"/>
          <p:cNvSpPr txBox="1"/>
          <p:nvPr/>
        </p:nvSpPr>
        <p:spPr>
          <a:xfrm>
            <a:off x="457200" y="1371600"/>
            <a:ext cx="4297680" cy="27432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E2A3B"/>
                </a:solidFill>
              </a:rPr>
              <a:t>Personal-data fields accumulate across unindexed database tables and spreadsheets without clear documentation (PS-019).</a:t>
            </a:r>
            <a:endParaRPr lang="en-US" sz="1300" dirty="0"/>
          </a:p>
          <a:p>
            <a:pPr marL="342900" indent="-342900">
              <a:spcAft>
                <a:spcPts val="500"/>
              </a:spcAft>
              <a:buSzPct val="100000"/>
              <a:buChar char="•"/>
            </a:pPr>
            <a:r>
              <a:rPr lang="en-US" sz="1300" dirty="0">
                <a:solidFill>
                  <a:srgbClr val="1E2A3B"/>
                </a:solidFill>
              </a:rPr>
              <a:t>Teams need to find candidate personal-data fields and link them to declared business purpose and retention metadata.</a:t>
            </a:r>
            <a:endParaRPr lang="en-US" sz="1300" dirty="0"/>
          </a:p>
          <a:p>
            <a:pPr marL="342900" indent="-342900">
              <a:spcAft>
                <a:spcPts val="500"/>
              </a:spcAft>
              <a:buSzPct val="100000"/>
              <a:buChar char="•"/>
            </a:pPr>
            <a:r>
              <a:rPr lang="en-US" sz="1300" dirty="0">
                <a:solidFill>
                  <a:srgbClr val="1E2A3B"/>
                </a:solidFill>
              </a:rPr>
              <a:t>A discovery list alone is not enough: if purpose or retention is missing, the inventory cannot be reviewed meaningfully.</a:t>
            </a:r>
            <a:endParaRPr lang="en-US" sz="1300" dirty="0"/>
          </a:p>
          <a:p>
            <a:pPr marL="342900" indent="-342900">
              <a:spcAft>
                <a:spcPts val="500"/>
              </a:spcAft>
              <a:buSzPct val="100000"/>
              <a:buChar char="•"/>
            </a:pPr>
            <a:r>
              <a:rPr lang="en-US" sz="1300" dirty="0">
                <a:solidFill>
                  <a:srgbClr val="1E2A3B"/>
                </a:solidFill>
              </a:rPr>
              <a:t>Reviewers need to see why a field was flagged, so findings must be explainable and reviewable, not black-box labels.</a:t>
            </a:r>
            <a:endParaRPr lang="en-US" sz="1300" dirty="0"/>
          </a:p>
        </p:txBody>
      </p:sp>
      <p:sp>
        <p:nvSpPr>
          <p:cNvPr id="9" name="Shape 7"/>
          <p:cNvSpPr/>
          <p:nvPr/>
        </p:nvSpPr>
        <p:spPr>
          <a:xfrm>
            <a:off x="5029200" y="1371600"/>
            <a:ext cx="3657600" cy="2743200"/>
          </a:xfrm>
          <a:prstGeom prst="roundRect">
            <a:avLst>
              <a:gd name="adj" fmla="val 2000"/>
            </a:avLst>
          </a:prstGeom>
          <a:solidFill>
            <a:srgbClr val="F3F7FC"/>
          </a:solidFill>
          <a:ln w="12700">
            <a:solidFill>
              <a:srgbClr val="C5D3E6"/>
            </a:solidFill>
            <a:prstDash val="solid"/>
          </a:ln>
        </p:spPr>
      </p:sp>
      <p:sp>
        <p:nvSpPr>
          <p:cNvPr id="10" name="Text 8"/>
          <p:cNvSpPr txBox="1"/>
          <p:nvPr/>
        </p:nvSpPr>
        <p:spPr>
          <a:xfrm>
            <a:off x="5138928" y="1444752"/>
            <a:ext cx="3438144" cy="274320"/>
          </a:xfrm>
          <a:prstGeom prst="rect">
            <a:avLst/>
          </a:prstGeom>
          <a:noFill/>
          <a:ln/>
        </p:spPr>
        <p:txBody>
          <a:bodyPr wrap="square" lIns="0" tIns="0" rIns="0" bIns="0" rtlCol="0" anchor="ctr"/>
          <a:lstStyle/>
          <a:p>
            <a:pPr marL="0" indent="0">
              <a:buNone/>
            </a:pPr>
            <a:r>
              <a:rPr lang="en-US" sz="1300" b="1" dirty="0">
                <a:solidFill>
                  <a:srgbClr val="0A6F6A"/>
                </a:solidFill>
              </a:rPr>
              <a:t>What FieldLedger proposes to deliver</a:t>
            </a:r>
            <a:endParaRPr lang="en-US" sz="1300" dirty="0"/>
          </a:p>
        </p:txBody>
      </p:sp>
      <p:sp>
        <p:nvSpPr>
          <p:cNvPr id="11" name="Text 9"/>
          <p:cNvSpPr txBox="1"/>
          <p:nvPr/>
        </p:nvSpPr>
        <p:spPr>
          <a:xfrm>
            <a:off x="5138928" y="1737360"/>
            <a:ext cx="3438144" cy="2304288"/>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2A3B"/>
                </a:solidFill>
              </a:rPr>
              <a:t>Scanner for synthetic CSV files and one SQLite database</a:t>
            </a:r>
            <a:endParaRPr lang="en-US" sz="1100" dirty="0"/>
          </a:p>
          <a:p>
            <a:pPr marL="342900" indent="-342900">
              <a:spcAft>
                <a:spcPts val="500"/>
              </a:spcAft>
              <a:buSzPct val="100000"/>
              <a:buChar char="•"/>
            </a:pPr>
            <a:r>
              <a:rPr lang="en-US" sz="1200" dirty="0">
                <a:solidFill>
                  <a:srgbClr val="1E2A3B"/>
                </a:solidFill>
              </a:rPr>
              <a:t>Configurable detection rules with per-finding evidence</a:t>
            </a:r>
            <a:endParaRPr lang="en-US" sz="1100" dirty="0"/>
          </a:p>
          <a:p>
            <a:pPr marL="342900" indent="-342900">
              <a:spcAft>
                <a:spcPts val="500"/>
              </a:spcAft>
              <a:buSzPct val="100000"/>
              <a:buChar char="•"/>
            </a:pPr>
            <a:r>
              <a:rPr lang="en-US" sz="1200" dirty="0">
                <a:solidFill>
                  <a:srgbClr val="1E2A3B"/>
                </a:solidFill>
              </a:rPr>
              <a:t>Purpose and retention metadata mapping</a:t>
            </a:r>
            <a:endParaRPr lang="en-US" sz="1100" dirty="0"/>
          </a:p>
          <a:p>
            <a:pPr marL="342900" indent="-342900">
              <a:spcAft>
                <a:spcPts val="500"/>
              </a:spcAft>
              <a:buSzPct val="100000"/>
              <a:buChar char="•"/>
            </a:pPr>
            <a:r>
              <a:rPr lang="en-US" sz="1200" dirty="0">
                <a:solidFill>
                  <a:srgbClr val="1E2A3B"/>
                </a:solidFill>
              </a:rPr>
              <a:t>Missing-metadata and evidence-gap report</a:t>
            </a:r>
            <a:endParaRPr lang="en-US" sz="1100" dirty="0"/>
          </a:p>
          <a:p>
            <a:pPr marL="342900" indent="-342900">
              <a:spcAft>
                <a:spcPts val="500"/>
              </a:spcAft>
              <a:buSzPct val="100000"/>
              <a:buChar char="•"/>
            </a:pPr>
            <a:r>
              <a:rPr lang="en-US" sz="1200" dirty="0">
                <a:solidFill>
                  <a:srgbClr val="1E2A3B"/>
                </a:solidFill>
              </a:rPr>
              <a:t>Per-class precision and recall on a manually labelled set</a:t>
            </a:r>
            <a:endParaRPr lang="en-US" sz="1100" dirty="0"/>
          </a:p>
        </p:txBody>
      </p:sp>
      <p:sp>
        <p:nvSpPr>
          <p:cNvPr id="12" name="Shape 10"/>
          <p:cNvSpPr/>
          <p:nvPr/>
        </p:nvSpPr>
        <p:spPr>
          <a:xfrm>
            <a:off x="457200" y="4251960"/>
            <a:ext cx="8229600" cy="329184"/>
          </a:xfrm>
          <a:prstGeom prst="roundRect">
            <a:avLst>
              <a:gd name="adj" fmla="val 16667"/>
            </a:avLst>
          </a:prstGeom>
          <a:solidFill>
            <a:srgbClr val="E8F8F6"/>
          </a:solidFill>
          <a:ln w="12700">
            <a:solidFill>
              <a:srgbClr val="0E8F87"/>
            </a:solidFill>
            <a:prstDash val="solid"/>
          </a:ln>
        </p:spPr>
      </p:sp>
      <p:sp>
        <p:nvSpPr>
          <p:cNvPr id="13" name="Text 11"/>
          <p:cNvSpPr txBox="1"/>
          <p:nvPr/>
        </p:nvSpPr>
        <p:spPr>
          <a:xfrm>
            <a:off x="548640" y="4251960"/>
            <a:ext cx="8046720" cy="329184"/>
          </a:xfrm>
          <a:prstGeom prst="rect">
            <a:avLst/>
          </a:prstGeom>
          <a:noFill/>
          <a:ln/>
        </p:spPr>
        <p:txBody>
          <a:bodyPr wrap="square" lIns="0" tIns="0" rIns="0" bIns="0" rtlCol="0" anchor="ctr"/>
          <a:lstStyle/>
          <a:p>
            <a:pPr marL="0" indent="0">
              <a:buNone/>
            </a:pPr>
            <a:r>
              <a:rPr lang="en-US" sz="1100" b="1" dirty="0">
                <a:solidFill>
                  <a:srgbClr val="0A6F6A"/>
                </a:solidFill>
              </a:rPr>
              <a:t>Technical evidence for human review. No legal-compliance or lawful-basis decisions.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457200" y="128016"/>
            <a:ext cx="8229600" cy="256032"/>
          </a:xfrm>
          <a:prstGeom prst="rect">
            <a:avLst/>
          </a:prstGeom>
          <a:noFill/>
          <a:ln/>
        </p:spPr>
        <p:txBody>
          <a:bodyPr wrap="square" lIns="0" tIns="0" rIns="0" bIns="0" rtlCol="0" anchor="ctr"/>
          <a:lstStyle/>
          <a:p>
            <a:pPr marL="0" indent="0">
              <a:buNone/>
            </a:pPr>
            <a:r>
              <a:rPr lang="en-US" sz="1100" b="1" dirty="0">
                <a:solidFill>
                  <a:srgbClr val="1B3FCC"/>
                </a:solidFill>
              </a:rPr>
              <a:t>AIORI 3</a:t>
            </a:r>
            <a:r>
              <a:rPr lang="en-US" sz="1100" dirty="0">
                <a:solidFill>
                  <a:srgbClr val="4B5B70"/>
                </a:solidFill>
              </a:rPr>
              <a:t>   Background</a:t>
            </a:r>
            <a:endParaRPr lang="en-US" sz="1100" dirty="0"/>
          </a:p>
        </p:txBody>
      </p:sp>
      <p:sp>
        <p:nvSpPr>
          <p:cNvPr id="4" name="Text 2"/>
          <p:cNvSpPr txBox="1"/>
          <p:nvPr/>
        </p:nvSpPr>
        <p:spPr>
          <a:xfrm>
            <a:off x="457200" y="411480"/>
            <a:ext cx="8229600" cy="502920"/>
          </a:xfrm>
          <a:prstGeom prst="rect">
            <a:avLst/>
          </a:prstGeom>
          <a:noFill/>
          <a:ln/>
        </p:spPr>
        <p:txBody>
          <a:bodyPr wrap="square" lIns="0" tIns="0" rIns="0" bIns="0" rtlCol="0" anchor="ctr"/>
          <a:lstStyle/>
          <a:p>
            <a:pPr marL="0" indent="0">
              <a:buNone/>
            </a:pPr>
            <a:r>
              <a:rPr lang="en-US" sz="2800" b="1" dirty="0">
                <a:solidFill>
                  <a:srgbClr val="1B3FCC"/>
                </a:solidFill>
              </a:rPr>
              <a:t>Background</a:t>
            </a:r>
            <a:endParaRPr lang="en-US" sz="2800" dirty="0"/>
          </a:p>
        </p:txBody>
      </p:sp>
      <p:sp>
        <p:nvSpPr>
          <p:cNvPr id="5" name="Text 3"/>
          <p:cNvSpPr txBox="1"/>
          <p:nvPr/>
        </p:nvSpPr>
        <p:spPr>
          <a:xfrm>
            <a:off x="457200" y="914400"/>
            <a:ext cx="8229600" cy="320040"/>
          </a:xfrm>
          <a:prstGeom prst="rect">
            <a:avLst/>
          </a:prstGeom>
          <a:noFill/>
          <a:ln/>
        </p:spPr>
        <p:txBody>
          <a:bodyPr wrap="square" lIns="0" tIns="0" rIns="0" bIns="0" rtlCol="0" anchor="ctr"/>
          <a:lstStyle/>
          <a:p>
            <a:pPr marL="0" indent="0">
              <a:buNone/>
            </a:pPr>
            <a:r>
              <a:rPr lang="en-US" sz="1300" dirty="0">
                <a:solidFill>
                  <a:srgbClr val="4B5B70"/>
                </a:solidFill>
              </a:rPr>
              <a:t>Context for structured personal-data discovery</a:t>
            </a:r>
            <a:endParaRPr lang="en-US" sz="1300" dirty="0"/>
          </a:p>
        </p:txBody>
      </p:sp>
      <p:sp>
        <p:nvSpPr>
          <p:cNvPr id="6" name="Text 4"/>
          <p:cNvSpPr txBox="1"/>
          <p:nvPr/>
        </p:nvSpPr>
        <p:spPr>
          <a:xfrm>
            <a:off x="457200" y="4800600"/>
            <a:ext cx="5486400" cy="228600"/>
          </a:xfrm>
          <a:prstGeom prst="rect">
            <a:avLst/>
          </a:prstGeom>
          <a:noFill/>
          <a:ln/>
        </p:spPr>
        <p:txBody>
          <a:bodyPr wrap="square" lIns="0" tIns="0" rIns="0" bIns="0" rtlCol="0" anchor="ctr"/>
          <a:lstStyle/>
          <a:p>
            <a:pPr marL="0" indent="0">
              <a:buNone/>
            </a:pPr>
            <a:r>
              <a:rPr lang="en-US" sz="1000" dirty="0">
                <a:solidFill>
                  <a:srgbClr val="4B5B70"/>
                </a:solidFill>
              </a:rPr>
              <a:t>Y. Vashishtha  •  A3-PS019-TC539  •  October 14, 2026</a:t>
            </a:r>
            <a:endParaRPr lang="en-US" sz="1000" dirty="0"/>
          </a:p>
        </p:txBody>
      </p:sp>
      <p:sp>
        <p:nvSpPr>
          <p:cNvPr id="7" name="Text 5"/>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en-US" sz="1000" dirty="0">
                <a:solidFill>
                  <a:srgbClr val="4B5B70"/>
                </a:solidFill>
              </a:rPr>
              <a:t>3 / 11</a:t>
            </a:r>
            <a:endParaRPr lang="en-US" sz="1000" dirty="0"/>
          </a:p>
        </p:txBody>
      </p:sp>
      <p:sp>
        <p:nvSpPr>
          <p:cNvPr id="8" name="Shape 6"/>
          <p:cNvSpPr/>
          <p:nvPr/>
        </p:nvSpPr>
        <p:spPr>
          <a:xfrm>
            <a:off x="457200" y="1325880"/>
            <a:ext cx="4023360" cy="1097280"/>
          </a:xfrm>
          <a:prstGeom prst="roundRect">
            <a:avLst>
              <a:gd name="adj" fmla="val 5000"/>
            </a:avLst>
          </a:prstGeom>
          <a:solidFill>
            <a:srgbClr val="F3F7FC"/>
          </a:solidFill>
          <a:ln w="12700">
            <a:solidFill>
              <a:srgbClr val="C5D3E6"/>
            </a:solidFill>
            <a:prstDash val="solid"/>
          </a:ln>
        </p:spPr>
      </p:sp>
      <p:sp>
        <p:nvSpPr>
          <p:cNvPr id="9" name="Text 7"/>
          <p:cNvSpPr txBox="1"/>
          <p:nvPr/>
        </p:nvSpPr>
        <p:spPr>
          <a:xfrm>
            <a:off x="566928" y="1399032"/>
            <a:ext cx="3803904" cy="274320"/>
          </a:xfrm>
          <a:prstGeom prst="rect">
            <a:avLst/>
          </a:prstGeom>
          <a:noFill/>
          <a:ln/>
        </p:spPr>
        <p:txBody>
          <a:bodyPr wrap="square" lIns="0" tIns="0" rIns="0" bIns="0" rtlCol="0" anchor="ctr"/>
          <a:lstStyle/>
          <a:p>
            <a:pPr marL="0" indent="0">
              <a:buNone/>
            </a:pPr>
            <a:r>
              <a:rPr lang="en-US" sz="1300" b="1" dirty="0">
                <a:solidFill>
                  <a:srgbClr val="0A6F6A"/>
                </a:solidFill>
              </a:rPr>
              <a:t>Structured discovery</a:t>
            </a:r>
            <a:endParaRPr lang="en-US" sz="1300" dirty="0"/>
          </a:p>
        </p:txBody>
      </p:sp>
      <p:sp>
        <p:nvSpPr>
          <p:cNvPr id="10" name="Text 8"/>
          <p:cNvSpPr txBox="1"/>
          <p:nvPr/>
        </p:nvSpPr>
        <p:spPr>
          <a:xfrm>
            <a:off x="566928" y="1691640"/>
            <a:ext cx="3803904" cy="658368"/>
          </a:xfrm>
          <a:prstGeom prst="rect">
            <a:avLst/>
          </a:prstGeom>
          <a:noFill/>
          <a:ln/>
        </p:spPr>
        <p:txBody>
          <a:bodyPr wrap="square" lIns="0" tIns="0" rIns="0" bIns="0" rtlCol="0" anchor="t"/>
          <a:lstStyle/>
          <a:p>
            <a:pPr marL="0" indent="0">
              <a:buNone/>
            </a:pPr>
            <a:r>
              <a:rPr lang="en-US" sz="1100" dirty="0">
                <a:solidFill>
                  <a:srgbClr val="1E2A3B"/>
                </a:solidFill>
              </a:rPr>
              <a:t>Inspect columns in CSV files and SQL tables using column-name, content-pattern and schema signals. Output is a candidate, not proof.</a:t>
            </a:r>
            <a:endParaRPr lang="en-US" sz="1100" dirty="0"/>
          </a:p>
        </p:txBody>
      </p:sp>
      <p:sp>
        <p:nvSpPr>
          <p:cNvPr id="11" name="Shape 9"/>
          <p:cNvSpPr/>
          <p:nvPr/>
        </p:nvSpPr>
        <p:spPr>
          <a:xfrm>
            <a:off x="4663440" y="1325880"/>
            <a:ext cx="4023360" cy="1097280"/>
          </a:xfrm>
          <a:prstGeom prst="roundRect">
            <a:avLst>
              <a:gd name="adj" fmla="val 5000"/>
            </a:avLst>
          </a:prstGeom>
          <a:solidFill>
            <a:srgbClr val="F3F7FC"/>
          </a:solidFill>
          <a:ln w="12700">
            <a:solidFill>
              <a:srgbClr val="C5D3E6"/>
            </a:solidFill>
            <a:prstDash val="solid"/>
          </a:ln>
        </p:spPr>
      </p:sp>
      <p:sp>
        <p:nvSpPr>
          <p:cNvPr id="12" name="Text 10"/>
          <p:cNvSpPr txBox="1"/>
          <p:nvPr/>
        </p:nvSpPr>
        <p:spPr>
          <a:xfrm>
            <a:off x="4773168" y="1399032"/>
            <a:ext cx="3803904" cy="274320"/>
          </a:xfrm>
          <a:prstGeom prst="rect">
            <a:avLst/>
          </a:prstGeom>
          <a:noFill/>
          <a:ln/>
        </p:spPr>
        <p:txBody>
          <a:bodyPr wrap="square" lIns="0" tIns="0" rIns="0" bIns="0" rtlCol="0" anchor="ctr"/>
          <a:lstStyle/>
          <a:p>
            <a:pPr marL="0" indent="0">
              <a:buNone/>
            </a:pPr>
            <a:r>
              <a:rPr lang="en-US" sz="1300" b="1" dirty="0">
                <a:solidFill>
                  <a:srgbClr val="0A6F6A"/>
                </a:solidFill>
              </a:rPr>
              <a:t>Metadata governance</a:t>
            </a:r>
            <a:endParaRPr lang="en-US" sz="1300" dirty="0"/>
          </a:p>
        </p:txBody>
      </p:sp>
      <p:sp>
        <p:nvSpPr>
          <p:cNvPr id="13" name="Text 11"/>
          <p:cNvSpPr txBox="1"/>
          <p:nvPr/>
        </p:nvSpPr>
        <p:spPr>
          <a:xfrm>
            <a:off x="4773168" y="1691640"/>
            <a:ext cx="3803904" cy="658368"/>
          </a:xfrm>
          <a:prstGeom prst="rect">
            <a:avLst/>
          </a:prstGeom>
          <a:noFill/>
          <a:ln/>
        </p:spPr>
        <p:txBody>
          <a:bodyPr wrap="square" lIns="0" tIns="0" rIns="0" bIns="0" rtlCol="0" anchor="t"/>
          <a:lstStyle/>
          <a:p>
            <a:pPr marL="0" indent="0">
              <a:buNone/>
            </a:pPr>
            <a:r>
              <a:rPr lang="en-US" sz="1100" dirty="0">
                <a:solidFill>
                  <a:srgbClr val="1E2A3B"/>
                </a:solidFill>
              </a:rPr>
              <a:t>Organizations declare business purpose and retention per data asset. Missing declarations are an inventory gap.</a:t>
            </a:r>
            <a:endParaRPr lang="en-US" sz="1100" dirty="0"/>
          </a:p>
        </p:txBody>
      </p:sp>
      <p:sp>
        <p:nvSpPr>
          <p:cNvPr id="14" name="Shape 12"/>
          <p:cNvSpPr/>
          <p:nvPr/>
        </p:nvSpPr>
        <p:spPr>
          <a:xfrm>
            <a:off x="457200" y="2560320"/>
            <a:ext cx="4023360" cy="1097280"/>
          </a:xfrm>
          <a:prstGeom prst="roundRect">
            <a:avLst>
              <a:gd name="adj" fmla="val 5000"/>
            </a:avLst>
          </a:prstGeom>
          <a:solidFill>
            <a:srgbClr val="F3F7FC"/>
          </a:solidFill>
          <a:ln w="12700">
            <a:solidFill>
              <a:srgbClr val="C5D3E6"/>
            </a:solidFill>
            <a:prstDash val="solid"/>
          </a:ln>
        </p:spPr>
      </p:sp>
      <p:sp>
        <p:nvSpPr>
          <p:cNvPr id="15" name="Text 13"/>
          <p:cNvSpPr txBox="1"/>
          <p:nvPr/>
        </p:nvSpPr>
        <p:spPr>
          <a:xfrm>
            <a:off x="566928" y="2633472"/>
            <a:ext cx="3803904" cy="274320"/>
          </a:xfrm>
          <a:prstGeom prst="rect">
            <a:avLst/>
          </a:prstGeom>
          <a:noFill/>
          <a:ln/>
        </p:spPr>
        <p:txBody>
          <a:bodyPr wrap="square" lIns="0" tIns="0" rIns="0" bIns="0" rtlCol="0" anchor="ctr"/>
          <a:lstStyle/>
          <a:p>
            <a:pPr marL="0" indent="0">
              <a:buNone/>
            </a:pPr>
            <a:r>
              <a:rPr lang="en-US" sz="1300" b="1" dirty="0">
                <a:solidFill>
                  <a:srgbClr val="0A6F6A"/>
                </a:solidFill>
              </a:rPr>
              <a:t>Evidence-based review</a:t>
            </a:r>
            <a:endParaRPr lang="en-US" sz="1300" dirty="0"/>
          </a:p>
        </p:txBody>
      </p:sp>
      <p:sp>
        <p:nvSpPr>
          <p:cNvPr id="16" name="Text 14"/>
          <p:cNvSpPr txBox="1"/>
          <p:nvPr/>
        </p:nvSpPr>
        <p:spPr>
          <a:xfrm>
            <a:off x="566928" y="2926080"/>
            <a:ext cx="3803904" cy="658368"/>
          </a:xfrm>
          <a:prstGeom prst="rect">
            <a:avLst/>
          </a:prstGeom>
          <a:noFill/>
          <a:ln/>
        </p:spPr>
        <p:txBody>
          <a:bodyPr wrap="square" lIns="0" tIns="0" rIns="0" bIns="0" rtlCol="0" anchor="t"/>
          <a:lstStyle/>
          <a:p>
            <a:pPr marL="0" indent="0">
              <a:buNone/>
            </a:pPr>
            <a:r>
              <a:rPr lang="en-US" sz="1100" dirty="0">
                <a:solidFill>
                  <a:srgbClr val="1E2A3B"/>
                </a:solidFill>
              </a:rPr>
              <a:t>Each finding records which rules fired and why, so a human can accept, reject or annotate it.</a:t>
            </a:r>
            <a:endParaRPr lang="en-US" sz="1100" dirty="0"/>
          </a:p>
        </p:txBody>
      </p:sp>
      <p:sp>
        <p:nvSpPr>
          <p:cNvPr id="17" name="Shape 15"/>
          <p:cNvSpPr/>
          <p:nvPr/>
        </p:nvSpPr>
        <p:spPr>
          <a:xfrm>
            <a:off x="4663440" y="2560320"/>
            <a:ext cx="4023360" cy="1097280"/>
          </a:xfrm>
          <a:prstGeom prst="roundRect">
            <a:avLst>
              <a:gd name="adj" fmla="val 5000"/>
            </a:avLst>
          </a:prstGeom>
          <a:solidFill>
            <a:srgbClr val="F3F7FC"/>
          </a:solidFill>
          <a:ln w="12700">
            <a:solidFill>
              <a:srgbClr val="C5D3E6"/>
            </a:solidFill>
            <a:prstDash val="solid"/>
          </a:ln>
        </p:spPr>
      </p:sp>
      <p:sp>
        <p:nvSpPr>
          <p:cNvPr id="18" name="Text 16"/>
          <p:cNvSpPr txBox="1"/>
          <p:nvPr/>
        </p:nvSpPr>
        <p:spPr>
          <a:xfrm>
            <a:off x="4773168" y="2633472"/>
            <a:ext cx="3803904" cy="274320"/>
          </a:xfrm>
          <a:prstGeom prst="rect">
            <a:avLst/>
          </a:prstGeom>
          <a:noFill/>
          <a:ln/>
        </p:spPr>
        <p:txBody>
          <a:bodyPr wrap="square" lIns="0" tIns="0" rIns="0" bIns="0" rtlCol="0" anchor="ctr"/>
          <a:lstStyle/>
          <a:p>
            <a:pPr marL="0" indent="0">
              <a:buNone/>
            </a:pPr>
            <a:r>
              <a:rPr lang="en-US" sz="1300" b="1" dirty="0">
                <a:solidFill>
                  <a:srgbClr val="0A6F6A"/>
                </a:solidFill>
              </a:rPr>
              <a:t>Evaluation</a:t>
            </a:r>
            <a:endParaRPr lang="en-US" sz="1300" dirty="0"/>
          </a:p>
        </p:txBody>
      </p:sp>
      <p:sp>
        <p:nvSpPr>
          <p:cNvPr id="19" name="Text 17"/>
          <p:cNvSpPr txBox="1"/>
          <p:nvPr/>
        </p:nvSpPr>
        <p:spPr>
          <a:xfrm>
            <a:off x="4773168" y="2926080"/>
            <a:ext cx="3803904" cy="658368"/>
          </a:xfrm>
          <a:prstGeom prst="rect">
            <a:avLst/>
          </a:prstGeom>
          <a:noFill/>
          <a:ln/>
        </p:spPr>
        <p:txBody>
          <a:bodyPr wrap="square" lIns="0" tIns="0" rIns="0" bIns="0" rtlCol="0" anchor="t"/>
          <a:lstStyle/>
          <a:p>
            <a:pPr marL="0" indent="0">
              <a:buNone/>
            </a:pPr>
            <a:r>
              <a:rPr lang="en-US" sz="1100" dirty="0">
                <a:solidFill>
                  <a:srgbClr val="1E2A3B"/>
                </a:solidFill>
              </a:rPr>
              <a:t>Detection is tested on a small manually labelled set; precision and recall reported per class.</a:t>
            </a:r>
            <a:endParaRPr lang="en-US" sz="1100" dirty="0"/>
          </a:p>
        </p:txBody>
      </p:sp>
      <p:sp>
        <p:nvSpPr>
          <p:cNvPr id="20" name="Shape 18"/>
          <p:cNvSpPr/>
          <p:nvPr/>
        </p:nvSpPr>
        <p:spPr>
          <a:xfrm>
            <a:off x="457200" y="3840480"/>
            <a:ext cx="8229600" cy="329184"/>
          </a:xfrm>
          <a:prstGeom prst="roundRect">
            <a:avLst>
              <a:gd name="adj" fmla="val 16667"/>
            </a:avLst>
          </a:prstGeom>
          <a:solidFill>
            <a:srgbClr val="FFF6DD"/>
          </a:solidFill>
          <a:ln w="12700">
            <a:solidFill>
              <a:srgbClr val="C98A12"/>
            </a:solidFill>
            <a:prstDash val="solid"/>
          </a:ln>
        </p:spPr>
      </p:sp>
      <p:sp>
        <p:nvSpPr>
          <p:cNvPr id="21" name="Text 19"/>
          <p:cNvSpPr txBox="1"/>
          <p:nvPr/>
        </p:nvSpPr>
        <p:spPr>
          <a:xfrm>
            <a:off x="548640" y="3840480"/>
            <a:ext cx="8046720" cy="329184"/>
          </a:xfrm>
          <a:prstGeom prst="rect">
            <a:avLst/>
          </a:prstGeom>
          <a:noFill/>
          <a:ln/>
        </p:spPr>
        <p:txBody>
          <a:bodyPr wrap="square" lIns="0" tIns="0" rIns="0" bIns="0" rtlCol="0" anchor="ctr"/>
          <a:lstStyle/>
          <a:p>
            <a:pPr marL="0" indent="0">
              <a:buNone/>
            </a:pPr>
            <a:r>
              <a:rPr lang="en-US" sz="1100" b="1" dirty="0">
                <a:solidFill>
                  <a:srgbClr val="8A5A00"/>
                </a:solidFill>
              </a:rPr>
              <a:t>Regulatory context [1][2]: India's DPDP Act 2023; DPDP Rules 2025 notified 13 Nov 2025 (G.S.R. 846(E)).</a:t>
            </a:r>
            <a:endParaRPr lang="en-US" sz="1100" dirty="0"/>
          </a:p>
        </p:txBody>
      </p:sp>
      <p:sp>
        <p:nvSpPr>
          <p:cNvPr id="22" name="Text 20"/>
          <p:cNvSpPr txBox="1"/>
          <p:nvPr/>
        </p:nvSpPr>
        <p:spPr>
          <a:xfrm>
            <a:off x="457200" y="4251960"/>
            <a:ext cx="8229600" cy="365760"/>
          </a:xfrm>
          <a:prstGeom prst="rect">
            <a:avLst/>
          </a:prstGeom>
          <a:noFill/>
          <a:ln/>
        </p:spPr>
        <p:txBody>
          <a:bodyPr wrap="square" lIns="0" tIns="0" rIns="0" bIns="0" rtlCol="0" anchor="ctr"/>
          <a:lstStyle/>
          <a:p>
            <a:pPr marL="0" indent="0">
              <a:buNone/>
            </a:pPr>
            <a:r>
              <a:rPr lang="en-US" sz="1200" dirty="0">
                <a:solidFill>
                  <a:srgbClr val="1E2A3B"/>
                </a:solidFill>
              </a:rPr>
              <a:t>Technical discovery is not legal compliance. FieldLedger does not determine lawful basis or certify compliance.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457200" y="128016"/>
            <a:ext cx="8229600" cy="256032"/>
          </a:xfrm>
          <a:prstGeom prst="rect">
            <a:avLst/>
          </a:prstGeom>
          <a:noFill/>
          <a:ln/>
        </p:spPr>
        <p:txBody>
          <a:bodyPr wrap="square" lIns="0" tIns="0" rIns="0" bIns="0" rtlCol="0" anchor="ctr"/>
          <a:lstStyle/>
          <a:p>
            <a:pPr marL="0" indent="0">
              <a:buNone/>
            </a:pPr>
            <a:r>
              <a:rPr lang="en-US" sz="1100" b="1" dirty="0">
                <a:solidFill>
                  <a:srgbClr val="1B3FCC"/>
                </a:solidFill>
              </a:rPr>
              <a:t>AIORI 3</a:t>
            </a:r>
            <a:r>
              <a:rPr lang="en-US" sz="1100" dirty="0">
                <a:solidFill>
                  <a:srgbClr val="4B5B70"/>
                </a:solidFill>
              </a:rPr>
              <a:t>   Literature &amp; RFC Review</a:t>
            </a:r>
            <a:endParaRPr lang="en-US" sz="1100" dirty="0"/>
          </a:p>
        </p:txBody>
      </p:sp>
      <p:sp>
        <p:nvSpPr>
          <p:cNvPr id="4" name="Text 2"/>
          <p:cNvSpPr txBox="1"/>
          <p:nvPr/>
        </p:nvSpPr>
        <p:spPr>
          <a:xfrm>
            <a:off x="457200" y="411480"/>
            <a:ext cx="8229600" cy="502920"/>
          </a:xfrm>
          <a:prstGeom prst="rect">
            <a:avLst/>
          </a:prstGeom>
          <a:noFill/>
          <a:ln/>
        </p:spPr>
        <p:txBody>
          <a:bodyPr wrap="square" lIns="0" tIns="0" rIns="0" bIns="0" rtlCol="0" anchor="ctr"/>
          <a:lstStyle/>
          <a:p>
            <a:pPr marL="0" indent="0">
              <a:buNone/>
            </a:pPr>
            <a:r>
              <a:rPr lang="en-US" sz="2800" b="1" dirty="0">
                <a:solidFill>
                  <a:srgbClr val="1B3FCC"/>
                </a:solidFill>
              </a:rPr>
              <a:t>Literature &amp; RFC Review</a:t>
            </a:r>
            <a:endParaRPr lang="en-US" sz="2800" dirty="0"/>
          </a:p>
        </p:txBody>
      </p:sp>
      <p:sp>
        <p:nvSpPr>
          <p:cNvPr id="5" name="Text 3"/>
          <p:cNvSpPr txBox="1"/>
          <p:nvPr/>
        </p:nvSpPr>
        <p:spPr>
          <a:xfrm>
            <a:off x="457200" y="914400"/>
            <a:ext cx="8229600" cy="320040"/>
          </a:xfrm>
          <a:prstGeom prst="rect">
            <a:avLst/>
          </a:prstGeom>
          <a:noFill/>
          <a:ln/>
        </p:spPr>
        <p:txBody>
          <a:bodyPr wrap="square" lIns="0" tIns="0" rIns="0" bIns="0" rtlCol="0" anchor="ctr"/>
          <a:lstStyle/>
          <a:p>
            <a:pPr marL="0" indent="0">
              <a:buNone/>
            </a:pPr>
            <a:r>
              <a:rPr lang="en-US" sz="1300" dirty="0">
                <a:solidFill>
                  <a:srgbClr val="4B5B70"/>
                </a:solidFill>
              </a:rPr>
              <a:t>Existing tools: what they document, and what remains unverified</a:t>
            </a:r>
            <a:endParaRPr lang="en-US" sz="1300" dirty="0"/>
          </a:p>
        </p:txBody>
      </p:sp>
      <p:sp>
        <p:nvSpPr>
          <p:cNvPr id="6" name="Text 4"/>
          <p:cNvSpPr txBox="1"/>
          <p:nvPr/>
        </p:nvSpPr>
        <p:spPr>
          <a:xfrm>
            <a:off x="457200" y="4800600"/>
            <a:ext cx="5486400" cy="228600"/>
          </a:xfrm>
          <a:prstGeom prst="rect">
            <a:avLst/>
          </a:prstGeom>
          <a:noFill/>
          <a:ln/>
        </p:spPr>
        <p:txBody>
          <a:bodyPr wrap="square" lIns="0" tIns="0" rIns="0" bIns="0" rtlCol="0" anchor="ctr"/>
          <a:lstStyle/>
          <a:p>
            <a:pPr marL="0" indent="0">
              <a:buNone/>
            </a:pPr>
            <a:r>
              <a:rPr lang="en-US" sz="1000" dirty="0">
                <a:solidFill>
                  <a:srgbClr val="4B5B70"/>
                </a:solidFill>
              </a:rPr>
              <a:t>Y. Vashishtha  •  A3-PS019-TC539  •  October 14, 2026</a:t>
            </a:r>
            <a:endParaRPr lang="en-US" sz="1000" dirty="0"/>
          </a:p>
        </p:txBody>
      </p:sp>
      <p:sp>
        <p:nvSpPr>
          <p:cNvPr id="7" name="Text 5"/>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en-US" sz="1000" dirty="0">
                <a:solidFill>
                  <a:srgbClr val="4B5B70"/>
                </a:solidFill>
              </a:rPr>
              <a:t>4 / 11</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0">
                <a:tc>
                  <a:txBody>
                    <a:bodyPr/>
                    <a:lstStyle/>
                    <a:p>
                      <a:pPr marL="0" indent="0">
                        <a:buNone/>
                      </a:pPr>
                      <a:r>
                        <a:rPr lang="en-US" sz="1100" b="1" dirty="0">
                          <a:solidFill>
                            <a:srgbClr val="FFFFFF"/>
                          </a:solidFill>
                        </a:rPr>
                        <a:t>Existing approach</a:t>
                      </a:r>
                      <a:endParaRPr lang="en-US" sz="110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1B3FCC"/>
                    </a:solidFill>
                  </a:tcPr>
                </a:tc>
                <a:tc>
                  <a:txBody>
                    <a:bodyPr/>
                    <a:lstStyle/>
                    <a:p>
                      <a:pPr marL="0" indent="0">
                        <a:buNone/>
                      </a:pPr>
                      <a:r>
                        <a:rPr lang="en-US" sz="1100" b="1" dirty="0">
                          <a:solidFill>
                            <a:srgbClr val="FFFFFF"/>
                          </a:solidFill>
                        </a:rPr>
                        <a:t>Documented capability</a:t>
                      </a:r>
                      <a:endParaRPr lang="en-US" sz="110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1B3FCC"/>
                    </a:solidFill>
                  </a:tcPr>
                </a:tc>
                <a:tc>
                  <a:txBody>
                    <a:bodyPr/>
                    <a:lstStyle/>
                    <a:p>
                      <a:pPr marL="0" indent="0">
                        <a:buNone/>
                      </a:pPr>
                      <a:r>
                        <a:rPr lang="en-US" sz="1100" b="1" dirty="0">
                          <a:solidFill>
                            <a:srgbClr val="FFFFFF"/>
                          </a:solidFill>
                        </a:rPr>
                        <a:t>Relevance to PS-019</a:t>
                      </a:r>
                      <a:endParaRPr lang="en-US" sz="110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1B3FCC"/>
                    </a:solidFill>
                  </a:tcPr>
                </a:tc>
                <a:tc>
                  <a:txBody>
                    <a:bodyPr/>
                    <a:lstStyle/>
                    <a:p>
                      <a:pPr marL="0" indent="0">
                        <a:buNone/>
                      </a:pPr>
                      <a:r>
                        <a:rPr lang="en-US" sz="1100" b="1" dirty="0">
                          <a:solidFill>
                            <a:srgbClr val="FFFFFF"/>
                          </a:solidFill>
                        </a:rPr>
                        <a:t>Gap FieldLedger proposes / unverified</a:t>
                      </a:r>
                      <a:endParaRPr lang="en-US" sz="110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1B3FCC"/>
                    </a:solidFill>
                  </a:tcPr>
                </a:tc>
                <a:extLst>
                  <a:ext uri="{0D108BD9-81ED-4DB2-BD59-A6C34878D82A}">
                    <a16:rowId xmlns:a16="http://schemas.microsoft.com/office/drawing/2014/main" val="10000"/>
                  </a:ext>
                </a:extLst>
              </a:tr>
              <a:tr h="0">
                <a:tc>
                  <a:txBody>
                    <a:bodyPr/>
                    <a:lstStyle/>
                    <a:p>
                      <a:pPr marL="0" indent="0">
                        <a:buNone/>
                      </a:pPr>
                      <a:r>
                        <a:rPr lang="en-US" sz="1050" b="1" dirty="0">
                          <a:solidFill>
                            <a:srgbClr val="1E2A3B"/>
                          </a:solidFill>
                        </a:rPr>
                        <a:t>Presidio Structured [3]</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tc>
                  <a:txBody>
                    <a:bodyPr/>
                    <a:lstStyle/>
                    <a:p>
                      <a:pPr marL="0" indent="0">
                        <a:buNone/>
                      </a:pPr>
                      <a:r>
                        <a:rPr lang="en-US" sz="1050" dirty="0">
                          <a:solidFill>
                            <a:srgbClr val="1E2A3B"/>
                          </a:solidFill>
                        </a:rPr>
                        <a:t>presidio-structured: PII detection in tables and JSON; documented as alpha</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tc>
                  <a:txBody>
                    <a:bodyPr/>
                    <a:lstStyle/>
                    <a:p>
                      <a:pPr marL="0" indent="0">
                        <a:buNone/>
                      </a:pPr>
                      <a:r>
                        <a:rPr lang="en-US" sz="1050" dirty="0">
                          <a:solidFill>
                            <a:srgbClr val="1E2A3B"/>
                          </a:solidFill>
                        </a:rPr>
                        <a:t>Rule/recognizer-based, customizable detection</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tc>
                  <a:txBody>
                    <a:bodyPr/>
                    <a:lstStyle/>
                    <a:p>
                      <a:pPr marL="0" indent="0">
                        <a:buNone/>
                      </a:pPr>
                      <a:r>
                        <a:rPr lang="en-US" sz="1050" dirty="0">
                          <a:solidFill>
                            <a:srgbClr val="1E2A3B"/>
                          </a:solidFill>
                        </a:rPr>
                        <a:t>Purpose/retention mapping and gap reporting not described in page reviewed; not exhaustive</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extLst>
                  <a:ext uri="{0D108BD9-81ED-4DB2-BD59-A6C34878D82A}">
                    <a16:rowId xmlns:a16="http://schemas.microsoft.com/office/drawing/2014/main" val="10001"/>
                  </a:ext>
                </a:extLst>
              </a:tr>
              <a:tr h="0">
                <a:tc>
                  <a:txBody>
                    <a:bodyPr/>
                    <a:lstStyle/>
                    <a:p>
                      <a:pPr marL="0" indent="0">
                        <a:buNone/>
                      </a:pPr>
                      <a:r>
                        <a:rPr lang="en-US" sz="1050" b="1" dirty="0">
                          <a:solidFill>
                            <a:srgbClr val="1E2A3B"/>
                          </a:solidFill>
                        </a:rPr>
                        <a:t>PIICatcher [4]</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tc>
                  <a:txBody>
                    <a:bodyPr/>
                    <a:lstStyle/>
                    <a:p>
                      <a:pPr marL="0" indent="0">
                        <a:buNone/>
                      </a:pPr>
                      <a:r>
                        <a:rPr lang="en-US" sz="1050" dirty="0">
                          <a:solidFill>
                            <a:srgbClr val="1E2A3B"/>
                          </a:solidFill>
                        </a:rPr>
                        <a:t>Column-name regex, plus regex/NLP on sampled column data; scans SQLite</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tc>
                  <a:txBody>
                    <a:bodyPr/>
                    <a:lstStyle/>
                    <a:p>
                      <a:pPr marL="0" indent="0">
                        <a:buNone/>
                      </a:pPr>
                      <a:r>
                        <a:rPr lang="en-US" sz="1050" dirty="0">
                          <a:solidFill>
                            <a:srgbClr val="1E2A3B"/>
                          </a:solidFill>
                        </a:rPr>
                        <a:t>Closest to name+content detection; this alone is not our novelty</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tc>
                  <a:txBody>
                    <a:bodyPr/>
                    <a:lstStyle/>
                    <a:p>
                      <a:pPr marL="0" indent="0">
                        <a:buNone/>
                      </a:pPr>
                      <a:r>
                        <a:rPr lang="en-US" sz="1050" dirty="0">
                          <a:solidFill>
                            <a:srgbClr val="1E2A3B"/>
                          </a:solidFill>
                        </a:rPr>
                        <a:t>Per-class evaluation and gap report not seen in README; maintenance status unverified</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extLst>
                  <a:ext uri="{0D108BD9-81ED-4DB2-BD59-A6C34878D82A}">
                    <a16:rowId xmlns:a16="http://schemas.microsoft.com/office/drawing/2014/main" val="10002"/>
                  </a:ext>
                </a:extLst>
              </a:tr>
              <a:tr h="0">
                <a:tc>
                  <a:txBody>
                    <a:bodyPr/>
                    <a:lstStyle/>
                    <a:p>
                      <a:pPr marL="0" indent="0">
                        <a:buNone/>
                      </a:pPr>
                      <a:r>
                        <a:rPr lang="en-US" sz="1050" b="1" dirty="0">
                          <a:solidFill>
                            <a:srgbClr val="1E2A3B"/>
                          </a:solidFill>
                        </a:rPr>
                        <a:t>OpenMetadata auto-classification [5]</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tc>
                  <a:txBody>
                    <a:bodyPr/>
                    <a:lstStyle/>
                    <a:p>
                      <a:pPr marL="0" indent="0">
                        <a:buNone/>
                      </a:pPr>
                      <a:r>
                        <a:rPr lang="en-US" sz="1050" dirty="0">
                          <a:solidFill>
                            <a:srgbClr val="1E2A3B"/>
                          </a:solidFill>
                        </a:rPr>
                        <a:t>Column-name scanner plus sample-data entity recognition; PII tags</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tc>
                  <a:txBody>
                    <a:bodyPr/>
                    <a:lstStyle/>
                    <a:p>
                      <a:pPr marL="0" indent="0">
                        <a:buNone/>
                      </a:pPr>
                      <a:r>
                        <a:rPr lang="en-US" sz="1050" dirty="0">
                          <a:solidFill>
                            <a:srgbClr val="1E2A3B"/>
                          </a:solidFill>
                        </a:rPr>
                        <a:t>Same two signals inside a full catalog platform</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tc>
                  <a:txBody>
                    <a:bodyPr/>
                    <a:lstStyle/>
                    <a:p>
                      <a:pPr marL="0" indent="0">
                        <a:buNone/>
                      </a:pPr>
                      <a:r>
                        <a:rPr lang="en-US" sz="1050" dirty="0">
                          <a:solidFill>
                            <a:srgbClr val="1E2A3B"/>
                          </a:solidFill>
                        </a:rPr>
                        <a:t>Full catalog platform vs. lightweight offline tool; gap reporting not verified</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extLst>
                  <a:ext uri="{0D108BD9-81ED-4DB2-BD59-A6C34878D82A}">
                    <a16:rowId xmlns:a16="http://schemas.microsoft.com/office/drawing/2014/main" val="10003"/>
                  </a:ext>
                </a:extLst>
              </a:tr>
              <a:tr h="0">
                <a:tc>
                  <a:txBody>
                    <a:bodyPr/>
                    <a:lstStyle/>
                    <a:p>
                      <a:pPr marL="0" indent="0">
                        <a:buNone/>
                      </a:pPr>
                      <a:r>
                        <a:rPr lang="en-US" sz="1050" b="1" dirty="0">
                          <a:solidFill>
                            <a:srgbClr val="1E2A3B"/>
                          </a:solidFill>
                        </a:rPr>
                        <a:t>DataHub [6]</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tc>
                  <a:txBody>
                    <a:bodyPr/>
                    <a:lstStyle/>
                    <a:p>
                      <a:pPr marL="0" indent="0">
                        <a:buNone/>
                      </a:pPr>
                      <a:r>
                        <a:rPr lang="en-US" sz="1050" dirty="0">
                          <a:solidFill>
                            <a:srgbClr val="1E2A3B"/>
                          </a:solidFill>
                        </a:rPr>
                        <a:t>Field-level tags, glossary terms, structured properties</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tc>
                  <a:txBody>
                    <a:bodyPr/>
                    <a:lstStyle/>
                    <a:p>
                      <a:pPr marL="0" indent="0">
                        <a:buNone/>
                      </a:pPr>
                      <a:r>
                        <a:rPr lang="en-US" sz="1050" dirty="0">
                          <a:solidFill>
                            <a:srgbClr val="1E2A3B"/>
                          </a:solidFill>
                        </a:rPr>
                        <a:t>Custom field properties could model retention (our reading)</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tc>
                  <a:txBody>
                    <a:bodyPr/>
                    <a:lstStyle/>
                    <a:p>
                      <a:pPr marL="0" indent="0">
                        <a:buNone/>
                      </a:pPr>
                      <a:r>
                        <a:rPr lang="en-US" sz="1050" dirty="0">
                          <a:solidFill>
                            <a:srgbClr val="1E2A3B"/>
                          </a:solidFill>
                        </a:rPr>
                        <a:t>Catalog; scanning and gap analysis not covered in page reviewed</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extLst>
                  <a:ext uri="{0D108BD9-81ED-4DB2-BD59-A6C34878D82A}">
                    <a16:rowId xmlns:a16="http://schemas.microsoft.com/office/drawing/2014/main" val="10004"/>
                  </a:ext>
                </a:extLst>
              </a:tr>
            </a:tbl>
          </a:graphicData>
        </a:graphic>
      </p:graphicFrame>
      <p:sp>
        <p:nvSpPr>
          <p:cNvPr id="9" name="Shape 6"/>
          <p:cNvSpPr/>
          <p:nvPr/>
        </p:nvSpPr>
        <p:spPr>
          <a:xfrm>
            <a:off x="457200" y="4206240"/>
            <a:ext cx="8229600" cy="329184"/>
          </a:xfrm>
          <a:prstGeom prst="roundRect">
            <a:avLst>
              <a:gd name="adj" fmla="val 16667"/>
            </a:avLst>
          </a:prstGeom>
          <a:solidFill>
            <a:srgbClr val="E8F8F6"/>
          </a:solidFill>
          <a:ln w="12700">
            <a:solidFill>
              <a:srgbClr val="0E8F87"/>
            </a:solidFill>
            <a:prstDash val="solid"/>
          </a:ln>
        </p:spPr>
      </p:sp>
      <p:sp>
        <p:nvSpPr>
          <p:cNvPr id="10" name="Text 7"/>
          <p:cNvSpPr txBox="1"/>
          <p:nvPr/>
        </p:nvSpPr>
        <p:spPr>
          <a:xfrm>
            <a:off x="548640" y="4206240"/>
            <a:ext cx="8046720" cy="329184"/>
          </a:xfrm>
          <a:prstGeom prst="rect">
            <a:avLst/>
          </a:prstGeom>
          <a:noFill/>
          <a:ln/>
        </p:spPr>
        <p:txBody>
          <a:bodyPr wrap="square" lIns="0" tIns="0" rIns="0" bIns="0" rtlCol="0" anchor="ctr"/>
          <a:lstStyle/>
          <a:p>
            <a:pPr marL="0" indent="0">
              <a:buNone/>
            </a:pPr>
            <a:r>
              <a:rPr lang="en-US" sz="1100" b="1" dirty="0">
                <a:solidFill>
                  <a:srgbClr val="0A6F6A"/>
                </a:solidFill>
              </a:rPr>
              <a:t>Hypothesis to validate: offline workflow + evidence-backed gap report + per-class evaluation.</a:t>
            </a:r>
            <a:endParaRPr lang="en-US" sz="1100" dirty="0"/>
          </a:p>
        </p:txBody>
      </p:sp>
      <p:sp>
        <p:nvSpPr>
          <p:cNvPr id="11" name="Text 8"/>
          <p:cNvSpPr txBox="1"/>
          <p:nvPr/>
        </p:nvSpPr>
        <p:spPr>
          <a:xfrm>
            <a:off x="457200" y="4562856"/>
            <a:ext cx="8229600" cy="228600"/>
          </a:xfrm>
          <a:prstGeom prst="rect">
            <a:avLst/>
          </a:prstGeom>
          <a:noFill/>
          <a:ln/>
        </p:spPr>
        <p:txBody>
          <a:bodyPr wrap="square" lIns="0" tIns="0" rIns="0" bIns="0" rtlCol="0" anchor="ctr"/>
          <a:lstStyle/>
          <a:p>
            <a:pPr marL="0" indent="0">
              <a:buNone/>
            </a:pPr>
            <a:r>
              <a:rPr lang="en-US" sz="1000" dirty="0">
                <a:solidFill>
                  <a:srgbClr val="4B5B70"/>
                </a:solidFill>
              </a:rPr>
              <a:t>No RFC or CSV standard cited yet; none verified for this deck.</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457200" y="128016"/>
            <a:ext cx="8229600" cy="256032"/>
          </a:xfrm>
          <a:prstGeom prst="rect">
            <a:avLst/>
          </a:prstGeom>
          <a:noFill/>
          <a:ln/>
        </p:spPr>
        <p:txBody>
          <a:bodyPr wrap="square" lIns="0" tIns="0" rIns="0" bIns="0" rtlCol="0" anchor="ctr"/>
          <a:lstStyle/>
          <a:p>
            <a:pPr marL="0" indent="0">
              <a:buNone/>
            </a:pPr>
            <a:r>
              <a:rPr lang="en-US" sz="1100" b="1" dirty="0">
                <a:solidFill>
                  <a:srgbClr val="1B3FCC"/>
                </a:solidFill>
              </a:rPr>
              <a:t>AIORI 3</a:t>
            </a:r>
            <a:r>
              <a:rPr lang="en-US" sz="1100" dirty="0">
                <a:solidFill>
                  <a:srgbClr val="4B5B70"/>
                </a:solidFill>
              </a:rPr>
              <a:t>   Proposed Solution</a:t>
            </a:r>
            <a:endParaRPr lang="en-US" sz="1100" dirty="0"/>
          </a:p>
        </p:txBody>
      </p:sp>
      <p:sp>
        <p:nvSpPr>
          <p:cNvPr id="4" name="Text 2"/>
          <p:cNvSpPr txBox="1"/>
          <p:nvPr/>
        </p:nvSpPr>
        <p:spPr>
          <a:xfrm>
            <a:off x="457200" y="411480"/>
            <a:ext cx="8229600" cy="502920"/>
          </a:xfrm>
          <a:prstGeom prst="rect">
            <a:avLst/>
          </a:prstGeom>
          <a:noFill/>
          <a:ln/>
        </p:spPr>
        <p:txBody>
          <a:bodyPr wrap="square" lIns="0" tIns="0" rIns="0" bIns="0" rtlCol="0" anchor="ctr"/>
          <a:lstStyle/>
          <a:p>
            <a:pPr marL="0" indent="0">
              <a:buNone/>
            </a:pPr>
            <a:r>
              <a:rPr lang="en-US" sz="2800" b="1" dirty="0">
                <a:solidFill>
                  <a:srgbClr val="1B3FCC"/>
                </a:solidFill>
              </a:rPr>
              <a:t>Proposed Solution</a:t>
            </a:r>
            <a:endParaRPr lang="en-US" sz="2800" dirty="0"/>
          </a:p>
        </p:txBody>
      </p:sp>
      <p:sp>
        <p:nvSpPr>
          <p:cNvPr id="5" name="Text 3"/>
          <p:cNvSpPr txBox="1"/>
          <p:nvPr/>
        </p:nvSpPr>
        <p:spPr>
          <a:xfrm>
            <a:off x="457200" y="914400"/>
            <a:ext cx="8229600" cy="320040"/>
          </a:xfrm>
          <a:prstGeom prst="rect">
            <a:avLst/>
          </a:prstGeom>
          <a:noFill/>
          <a:ln/>
        </p:spPr>
        <p:txBody>
          <a:bodyPr wrap="square" lIns="0" tIns="0" rIns="0" bIns="0" rtlCol="0" anchor="ctr"/>
          <a:lstStyle/>
          <a:p>
            <a:pPr marL="0" indent="0">
              <a:buNone/>
            </a:pPr>
            <a:r>
              <a:rPr lang="en-US" sz="1300" dirty="0">
                <a:solidFill>
                  <a:srgbClr val="4B5B70"/>
                </a:solidFill>
              </a:rPr>
              <a:t>Synthetic CSV / SQLite sources → evidence-backed inventory and evaluation reports</a:t>
            </a:r>
            <a:endParaRPr lang="en-US" sz="1300" dirty="0"/>
          </a:p>
        </p:txBody>
      </p:sp>
      <p:sp>
        <p:nvSpPr>
          <p:cNvPr id="6" name="Text 4"/>
          <p:cNvSpPr txBox="1"/>
          <p:nvPr/>
        </p:nvSpPr>
        <p:spPr>
          <a:xfrm>
            <a:off x="457200" y="4800600"/>
            <a:ext cx="5486400" cy="228600"/>
          </a:xfrm>
          <a:prstGeom prst="rect">
            <a:avLst/>
          </a:prstGeom>
          <a:noFill/>
          <a:ln/>
        </p:spPr>
        <p:txBody>
          <a:bodyPr wrap="square" lIns="0" tIns="0" rIns="0" bIns="0" rtlCol="0" anchor="ctr"/>
          <a:lstStyle/>
          <a:p>
            <a:pPr marL="0" indent="0">
              <a:buNone/>
            </a:pPr>
            <a:r>
              <a:rPr lang="en-US" sz="1000" dirty="0">
                <a:solidFill>
                  <a:srgbClr val="4B5B70"/>
                </a:solidFill>
              </a:rPr>
              <a:t>Y. Vashishtha  •  A3-PS019-TC539  •  October 14, 2026</a:t>
            </a:r>
            <a:endParaRPr lang="en-US" sz="1000" dirty="0"/>
          </a:p>
        </p:txBody>
      </p:sp>
      <p:sp>
        <p:nvSpPr>
          <p:cNvPr id="7" name="Text 5"/>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en-US" sz="1000" dirty="0">
                <a:solidFill>
                  <a:srgbClr val="4B5B70"/>
                </a:solidFill>
              </a:rPr>
              <a:t>5 / 11</a:t>
            </a:r>
            <a:endParaRPr lang="en-US" sz="1000" dirty="0"/>
          </a:p>
        </p:txBody>
      </p:sp>
      <p:sp>
        <p:nvSpPr>
          <p:cNvPr id="8" name="Shape 6"/>
          <p:cNvSpPr/>
          <p:nvPr/>
        </p:nvSpPr>
        <p:spPr>
          <a:xfrm>
            <a:off x="457200" y="1325880"/>
            <a:ext cx="2606040" cy="960120"/>
          </a:xfrm>
          <a:prstGeom prst="roundRect">
            <a:avLst>
              <a:gd name="adj" fmla="val 5714"/>
            </a:avLst>
          </a:prstGeom>
          <a:solidFill>
            <a:srgbClr val="F3F7FC"/>
          </a:solidFill>
          <a:ln w="12700">
            <a:solidFill>
              <a:srgbClr val="C5D3E6"/>
            </a:solidFill>
            <a:prstDash val="solid"/>
          </a:ln>
        </p:spPr>
      </p:sp>
      <p:sp>
        <p:nvSpPr>
          <p:cNvPr id="9" name="Text 7"/>
          <p:cNvSpPr txBox="1"/>
          <p:nvPr/>
        </p:nvSpPr>
        <p:spPr>
          <a:xfrm>
            <a:off x="566928" y="1399032"/>
            <a:ext cx="2386584" cy="274320"/>
          </a:xfrm>
          <a:prstGeom prst="rect">
            <a:avLst/>
          </a:prstGeom>
          <a:noFill/>
          <a:ln/>
        </p:spPr>
        <p:txBody>
          <a:bodyPr wrap="square" lIns="0" tIns="0" rIns="0" bIns="0" rtlCol="0" anchor="ctr"/>
          <a:lstStyle/>
          <a:p>
            <a:pPr marL="0" indent="0">
              <a:buNone/>
            </a:pPr>
            <a:r>
              <a:rPr lang="en-US" sz="1250" b="1" dirty="0">
                <a:solidFill>
                  <a:srgbClr val="0A6F6A"/>
                </a:solidFill>
              </a:rPr>
              <a:t>1  Source ingestion</a:t>
            </a:r>
            <a:endParaRPr lang="en-US" sz="1250" dirty="0"/>
          </a:p>
        </p:txBody>
      </p:sp>
      <p:sp>
        <p:nvSpPr>
          <p:cNvPr id="10" name="Text 8"/>
          <p:cNvSpPr txBox="1"/>
          <p:nvPr/>
        </p:nvSpPr>
        <p:spPr>
          <a:xfrm>
            <a:off x="566928" y="1691640"/>
            <a:ext cx="2386584" cy="521208"/>
          </a:xfrm>
          <a:prstGeom prst="rect">
            <a:avLst/>
          </a:prstGeom>
          <a:noFill/>
          <a:ln/>
        </p:spPr>
        <p:txBody>
          <a:bodyPr wrap="square" lIns="0" tIns="0" rIns="0" bIns="0" rtlCol="0" anchor="t"/>
          <a:lstStyle/>
          <a:p>
            <a:pPr marL="0" indent="0">
              <a:buNone/>
            </a:pPr>
            <a:r>
              <a:rPr lang="en-US" sz="1150" dirty="0">
                <a:solidFill>
                  <a:srgbClr val="1E2A3B"/>
                </a:solidFill>
              </a:rPr>
              <a:t>Read CSV files and one SQLite DB; raw values stay in memory</a:t>
            </a:r>
            <a:endParaRPr lang="en-US" sz="1150" dirty="0"/>
          </a:p>
        </p:txBody>
      </p:sp>
      <p:sp>
        <p:nvSpPr>
          <p:cNvPr id="11" name="Shape 9"/>
          <p:cNvSpPr/>
          <p:nvPr/>
        </p:nvSpPr>
        <p:spPr>
          <a:xfrm>
            <a:off x="3264408" y="1325880"/>
            <a:ext cx="2606040" cy="960120"/>
          </a:xfrm>
          <a:prstGeom prst="roundRect">
            <a:avLst>
              <a:gd name="adj" fmla="val 5714"/>
            </a:avLst>
          </a:prstGeom>
          <a:solidFill>
            <a:srgbClr val="F3F7FC"/>
          </a:solidFill>
          <a:ln w="12700">
            <a:solidFill>
              <a:srgbClr val="C5D3E6"/>
            </a:solidFill>
            <a:prstDash val="solid"/>
          </a:ln>
        </p:spPr>
      </p:sp>
      <p:sp>
        <p:nvSpPr>
          <p:cNvPr id="12" name="Text 10"/>
          <p:cNvSpPr txBox="1"/>
          <p:nvPr/>
        </p:nvSpPr>
        <p:spPr>
          <a:xfrm>
            <a:off x="3374136" y="1399032"/>
            <a:ext cx="2386584" cy="274320"/>
          </a:xfrm>
          <a:prstGeom prst="rect">
            <a:avLst/>
          </a:prstGeom>
          <a:noFill/>
          <a:ln/>
        </p:spPr>
        <p:txBody>
          <a:bodyPr wrap="square" lIns="0" tIns="0" rIns="0" bIns="0" rtlCol="0" anchor="ctr"/>
          <a:lstStyle/>
          <a:p>
            <a:pPr marL="0" indent="0">
              <a:buNone/>
            </a:pPr>
            <a:r>
              <a:rPr lang="en-US" sz="1250" b="1" dirty="0">
                <a:solidFill>
                  <a:srgbClr val="0A6F6A"/>
                </a:solidFill>
              </a:rPr>
              <a:t>2  Configurable rules</a:t>
            </a:r>
            <a:endParaRPr lang="en-US" sz="1250" dirty="0"/>
          </a:p>
        </p:txBody>
      </p:sp>
      <p:sp>
        <p:nvSpPr>
          <p:cNvPr id="13" name="Text 11"/>
          <p:cNvSpPr txBox="1"/>
          <p:nvPr/>
        </p:nvSpPr>
        <p:spPr>
          <a:xfrm>
            <a:off x="3374136" y="1691640"/>
            <a:ext cx="2386584" cy="521208"/>
          </a:xfrm>
          <a:prstGeom prst="rect">
            <a:avLst/>
          </a:prstGeom>
          <a:noFill/>
          <a:ln/>
        </p:spPr>
        <p:txBody>
          <a:bodyPr wrap="square" lIns="0" tIns="0" rIns="0" bIns="0" rtlCol="0" anchor="t"/>
          <a:lstStyle/>
          <a:p>
            <a:pPr marL="0" indent="0">
              <a:buNone/>
            </a:pPr>
            <a:r>
              <a:rPr lang="en-US" sz="1150" dirty="0">
                <a:solidFill>
                  <a:srgbClr val="1E2A3B"/>
                </a:solidFill>
              </a:rPr>
              <a:t>Column-name, content-pattern and schema rules defined in config</a:t>
            </a:r>
            <a:endParaRPr lang="en-US" sz="1150" dirty="0"/>
          </a:p>
        </p:txBody>
      </p:sp>
      <p:sp>
        <p:nvSpPr>
          <p:cNvPr id="14" name="Shape 12"/>
          <p:cNvSpPr/>
          <p:nvPr/>
        </p:nvSpPr>
        <p:spPr>
          <a:xfrm>
            <a:off x="6071616" y="1325880"/>
            <a:ext cx="2606040" cy="960120"/>
          </a:xfrm>
          <a:prstGeom prst="roundRect">
            <a:avLst>
              <a:gd name="adj" fmla="val 5714"/>
            </a:avLst>
          </a:prstGeom>
          <a:solidFill>
            <a:srgbClr val="F3F7FC"/>
          </a:solidFill>
          <a:ln w="12700">
            <a:solidFill>
              <a:srgbClr val="C5D3E6"/>
            </a:solidFill>
            <a:prstDash val="solid"/>
          </a:ln>
        </p:spPr>
      </p:sp>
      <p:sp>
        <p:nvSpPr>
          <p:cNvPr id="15" name="Text 13"/>
          <p:cNvSpPr txBox="1"/>
          <p:nvPr/>
        </p:nvSpPr>
        <p:spPr>
          <a:xfrm>
            <a:off x="6181344" y="1399032"/>
            <a:ext cx="2386584" cy="274320"/>
          </a:xfrm>
          <a:prstGeom prst="rect">
            <a:avLst/>
          </a:prstGeom>
          <a:noFill/>
          <a:ln/>
        </p:spPr>
        <p:txBody>
          <a:bodyPr wrap="square" lIns="0" tIns="0" rIns="0" bIns="0" rtlCol="0" anchor="ctr"/>
          <a:lstStyle/>
          <a:p>
            <a:pPr marL="0" indent="0">
              <a:buNone/>
            </a:pPr>
            <a:r>
              <a:rPr lang="en-US" sz="1250" b="1" dirty="0">
                <a:solidFill>
                  <a:srgbClr val="0A6F6A"/>
                </a:solidFill>
              </a:rPr>
              <a:t>3  Evidence records</a:t>
            </a:r>
            <a:endParaRPr lang="en-US" sz="1250" dirty="0"/>
          </a:p>
        </p:txBody>
      </p:sp>
      <p:sp>
        <p:nvSpPr>
          <p:cNvPr id="16" name="Text 14"/>
          <p:cNvSpPr txBox="1"/>
          <p:nvPr/>
        </p:nvSpPr>
        <p:spPr>
          <a:xfrm>
            <a:off x="6181344" y="1691640"/>
            <a:ext cx="2386584" cy="521208"/>
          </a:xfrm>
          <a:prstGeom prst="rect">
            <a:avLst/>
          </a:prstGeom>
          <a:noFill/>
          <a:ln/>
        </p:spPr>
        <p:txBody>
          <a:bodyPr wrap="square" lIns="0" tIns="0" rIns="0" bIns="0" rtlCol="0" anchor="t"/>
          <a:lstStyle/>
          <a:p>
            <a:pPr marL="0" indent="0">
              <a:buNone/>
            </a:pPr>
            <a:r>
              <a:rPr lang="en-US" sz="1150" dirty="0">
                <a:solidFill>
                  <a:srgbClr val="1E2A3B"/>
                </a:solidFill>
              </a:rPr>
              <a:t>Per field: rules fired, signals, match ratios, review status</a:t>
            </a:r>
            <a:endParaRPr lang="en-US" sz="1150" dirty="0"/>
          </a:p>
        </p:txBody>
      </p:sp>
      <p:sp>
        <p:nvSpPr>
          <p:cNvPr id="17" name="Shape 15"/>
          <p:cNvSpPr/>
          <p:nvPr/>
        </p:nvSpPr>
        <p:spPr>
          <a:xfrm>
            <a:off x="457200" y="2423160"/>
            <a:ext cx="2606040" cy="960120"/>
          </a:xfrm>
          <a:prstGeom prst="roundRect">
            <a:avLst>
              <a:gd name="adj" fmla="val 5714"/>
            </a:avLst>
          </a:prstGeom>
          <a:solidFill>
            <a:srgbClr val="F3F7FC"/>
          </a:solidFill>
          <a:ln w="12700">
            <a:solidFill>
              <a:srgbClr val="C5D3E6"/>
            </a:solidFill>
            <a:prstDash val="solid"/>
          </a:ln>
        </p:spPr>
      </p:sp>
      <p:sp>
        <p:nvSpPr>
          <p:cNvPr id="18" name="Text 16"/>
          <p:cNvSpPr txBox="1"/>
          <p:nvPr/>
        </p:nvSpPr>
        <p:spPr>
          <a:xfrm>
            <a:off x="566928" y="2496312"/>
            <a:ext cx="2386584" cy="274320"/>
          </a:xfrm>
          <a:prstGeom prst="rect">
            <a:avLst/>
          </a:prstGeom>
          <a:noFill/>
          <a:ln/>
        </p:spPr>
        <p:txBody>
          <a:bodyPr wrap="square" lIns="0" tIns="0" rIns="0" bIns="0" rtlCol="0" anchor="ctr"/>
          <a:lstStyle/>
          <a:p>
            <a:pPr marL="0" indent="0">
              <a:buNone/>
            </a:pPr>
            <a:r>
              <a:rPr lang="en-US" sz="1250" b="1" dirty="0">
                <a:solidFill>
                  <a:srgbClr val="0A6F6A"/>
                </a:solidFill>
              </a:rPr>
              <a:t>4  Purpose &amp; retention mapping</a:t>
            </a:r>
            <a:endParaRPr lang="en-US" sz="1250" dirty="0"/>
          </a:p>
        </p:txBody>
      </p:sp>
      <p:sp>
        <p:nvSpPr>
          <p:cNvPr id="19" name="Text 17"/>
          <p:cNvSpPr txBox="1"/>
          <p:nvPr/>
        </p:nvSpPr>
        <p:spPr>
          <a:xfrm>
            <a:off x="566928" y="2788920"/>
            <a:ext cx="2386584" cy="521208"/>
          </a:xfrm>
          <a:prstGeom prst="rect">
            <a:avLst/>
          </a:prstGeom>
          <a:noFill/>
          <a:ln/>
        </p:spPr>
        <p:txBody>
          <a:bodyPr wrap="square" lIns="0" tIns="0" rIns="0" bIns="0" rtlCol="0" anchor="t"/>
          <a:lstStyle/>
          <a:p>
            <a:pPr marL="0" indent="0">
              <a:buNone/>
            </a:pPr>
            <a:r>
              <a:rPr lang="en-US" sz="1150" dirty="0">
                <a:solidFill>
                  <a:srgbClr val="1E2A3B"/>
                </a:solidFill>
              </a:rPr>
              <a:t>Join fields to declared metadata</a:t>
            </a:r>
            <a:endParaRPr lang="en-US" sz="1150" dirty="0"/>
          </a:p>
        </p:txBody>
      </p:sp>
      <p:sp>
        <p:nvSpPr>
          <p:cNvPr id="20" name="Shape 18"/>
          <p:cNvSpPr/>
          <p:nvPr/>
        </p:nvSpPr>
        <p:spPr>
          <a:xfrm>
            <a:off x="3264408" y="2423160"/>
            <a:ext cx="2606040" cy="960120"/>
          </a:xfrm>
          <a:prstGeom prst="roundRect">
            <a:avLst>
              <a:gd name="adj" fmla="val 5714"/>
            </a:avLst>
          </a:prstGeom>
          <a:solidFill>
            <a:srgbClr val="F3F7FC"/>
          </a:solidFill>
          <a:ln w="12700">
            <a:solidFill>
              <a:srgbClr val="C5D3E6"/>
            </a:solidFill>
            <a:prstDash val="solid"/>
          </a:ln>
        </p:spPr>
      </p:sp>
      <p:sp>
        <p:nvSpPr>
          <p:cNvPr id="21" name="Text 19"/>
          <p:cNvSpPr txBox="1"/>
          <p:nvPr/>
        </p:nvSpPr>
        <p:spPr>
          <a:xfrm>
            <a:off x="3374136" y="2496312"/>
            <a:ext cx="2386584" cy="274320"/>
          </a:xfrm>
          <a:prstGeom prst="rect">
            <a:avLst/>
          </a:prstGeom>
          <a:noFill/>
          <a:ln/>
        </p:spPr>
        <p:txBody>
          <a:bodyPr wrap="square" lIns="0" tIns="0" rIns="0" bIns="0" rtlCol="0" anchor="ctr"/>
          <a:lstStyle/>
          <a:p>
            <a:pPr marL="0" indent="0">
              <a:buNone/>
            </a:pPr>
            <a:r>
              <a:rPr lang="en-US" sz="1250" b="1" dirty="0">
                <a:solidFill>
                  <a:srgbClr val="0A6F6A"/>
                </a:solidFill>
              </a:rPr>
              <a:t>5  Evidence-gap analysis</a:t>
            </a:r>
            <a:endParaRPr lang="en-US" sz="1250" dirty="0"/>
          </a:p>
        </p:txBody>
      </p:sp>
      <p:sp>
        <p:nvSpPr>
          <p:cNvPr id="22" name="Text 20"/>
          <p:cNvSpPr txBox="1"/>
          <p:nvPr/>
        </p:nvSpPr>
        <p:spPr>
          <a:xfrm>
            <a:off x="3374136" y="2788920"/>
            <a:ext cx="2386584" cy="521208"/>
          </a:xfrm>
          <a:prstGeom prst="rect">
            <a:avLst/>
          </a:prstGeom>
          <a:noFill/>
          <a:ln/>
        </p:spPr>
        <p:txBody>
          <a:bodyPr wrap="square" lIns="0" tIns="0" rIns="0" bIns="0" rtlCol="0" anchor="t"/>
          <a:lstStyle/>
          <a:p>
            <a:pPr marL="0" indent="0">
              <a:buNone/>
            </a:pPr>
            <a:r>
              <a:rPr lang="en-US" sz="1150" dirty="0">
                <a:solidFill>
                  <a:srgbClr val="1E2A3B"/>
                </a:solidFill>
              </a:rPr>
              <a:t>Flag missing purpose/retention and metadata conflicts</a:t>
            </a:r>
            <a:endParaRPr lang="en-US" sz="1150" dirty="0"/>
          </a:p>
        </p:txBody>
      </p:sp>
      <p:sp>
        <p:nvSpPr>
          <p:cNvPr id="23" name="Shape 21"/>
          <p:cNvSpPr/>
          <p:nvPr/>
        </p:nvSpPr>
        <p:spPr>
          <a:xfrm>
            <a:off x="6071616" y="2423160"/>
            <a:ext cx="2606040" cy="960120"/>
          </a:xfrm>
          <a:prstGeom prst="roundRect">
            <a:avLst>
              <a:gd name="adj" fmla="val 5714"/>
            </a:avLst>
          </a:prstGeom>
          <a:solidFill>
            <a:srgbClr val="F3F7FC"/>
          </a:solidFill>
          <a:ln w="12700">
            <a:solidFill>
              <a:srgbClr val="C5D3E6"/>
            </a:solidFill>
            <a:prstDash val="solid"/>
          </a:ln>
        </p:spPr>
      </p:sp>
      <p:sp>
        <p:nvSpPr>
          <p:cNvPr id="24" name="Text 22"/>
          <p:cNvSpPr txBox="1"/>
          <p:nvPr/>
        </p:nvSpPr>
        <p:spPr>
          <a:xfrm>
            <a:off x="6181344" y="2496312"/>
            <a:ext cx="2386584" cy="274320"/>
          </a:xfrm>
          <a:prstGeom prst="rect">
            <a:avLst/>
          </a:prstGeom>
          <a:noFill/>
          <a:ln/>
        </p:spPr>
        <p:txBody>
          <a:bodyPr wrap="square" lIns="0" tIns="0" rIns="0" bIns="0" rtlCol="0" anchor="ctr"/>
          <a:lstStyle/>
          <a:p>
            <a:pPr marL="0" indent="0">
              <a:buNone/>
            </a:pPr>
            <a:r>
              <a:rPr lang="en-US" sz="1250" b="1" dirty="0">
                <a:solidFill>
                  <a:srgbClr val="0A6F6A"/>
                </a:solidFill>
              </a:rPr>
              <a:t>6  Inventory &amp; reports</a:t>
            </a:r>
            <a:endParaRPr lang="en-US" sz="1250" dirty="0"/>
          </a:p>
        </p:txBody>
      </p:sp>
      <p:sp>
        <p:nvSpPr>
          <p:cNvPr id="25" name="Text 23"/>
          <p:cNvSpPr txBox="1"/>
          <p:nvPr/>
        </p:nvSpPr>
        <p:spPr>
          <a:xfrm>
            <a:off x="6181344" y="2788920"/>
            <a:ext cx="2386584" cy="521208"/>
          </a:xfrm>
          <a:prstGeom prst="rect">
            <a:avLst/>
          </a:prstGeom>
          <a:noFill/>
          <a:ln/>
        </p:spPr>
        <p:txBody>
          <a:bodyPr wrap="square" lIns="0" tIns="0" rIns="0" bIns="0" rtlCol="0" anchor="t"/>
          <a:lstStyle/>
          <a:p>
            <a:pPr marL="0" indent="0">
              <a:buNone/>
            </a:pPr>
            <a:r>
              <a:rPr lang="en-US" sz="1150" dirty="0">
                <a:solidFill>
                  <a:srgbClr val="1E2A3B"/>
                </a:solidFill>
              </a:rPr>
              <a:t>Structured inventory, gap report, per-class precision/recall</a:t>
            </a:r>
            <a:endParaRPr lang="en-US" sz="1150" dirty="0"/>
          </a:p>
        </p:txBody>
      </p:sp>
      <p:sp>
        <p:nvSpPr>
          <p:cNvPr id="26" name="Text 24"/>
          <p:cNvSpPr txBox="1"/>
          <p:nvPr/>
        </p:nvSpPr>
        <p:spPr>
          <a:xfrm>
            <a:off x="457200" y="3529584"/>
            <a:ext cx="8229600" cy="118872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E2A3B"/>
                </a:solidFill>
              </a:rPr>
              <a:t>Explainable: every finding shows its rules</a:t>
            </a:r>
            <a:endParaRPr lang="en-US" sz="1150" dirty="0"/>
          </a:p>
          <a:p>
            <a:pPr marL="342900" indent="-342900">
              <a:spcAft>
                <a:spcPts val="500"/>
              </a:spcAft>
              <a:buSzPct val="100000"/>
              <a:buChar char="•"/>
            </a:pPr>
            <a:r>
              <a:rPr lang="en-US" sz="1150" dirty="0">
                <a:solidFill>
                  <a:srgbClr val="1E2A3B"/>
                </a:solidFill>
              </a:rPr>
              <a:t>Configurable: rules and class taxonomy live in config</a:t>
            </a:r>
            <a:endParaRPr lang="en-US" sz="1150" dirty="0"/>
          </a:p>
          <a:p>
            <a:pPr marL="342900" indent="-342900">
              <a:spcAft>
                <a:spcPts val="500"/>
              </a:spcAft>
              <a:buSzPct val="100000"/>
              <a:buChar char="•"/>
            </a:pPr>
            <a:r>
              <a:rPr lang="en-US" sz="1150" dirty="0">
                <a:solidFill>
                  <a:srgbClr val="1E2A3B"/>
                </a:solidFill>
              </a:rPr>
              <a:t>Human review stays in the loop</a:t>
            </a:r>
            <a:endParaRPr lang="en-US" sz="1150" dirty="0"/>
          </a:p>
          <a:p>
            <a:pPr marL="342900" indent="-342900">
              <a:spcAft>
                <a:spcPts val="500"/>
              </a:spcAft>
              <a:buSzPct val="100000"/>
              <a:buChar char="•"/>
            </a:pPr>
            <a:r>
              <a:rPr lang="en-US" sz="1150" dirty="0">
                <a:solidFill>
                  <a:srgbClr val="1E2A3B"/>
                </a:solidFill>
              </a:rPr>
              <a:t>Measurable: labelled test set, TP/FP/FN per class</a:t>
            </a:r>
            <a:endParaRPr lang="en-US" sz="1150" dirty="0"/>
          </a:p>
          <a:p>
            <a:pPr marL="342900" indent="-342900">
              <a:spcAft>
                <a:spcPts val="500"/>
              </a:spcAft>
              <a:buSzPct val="100000"/>
              <a:buChar char="•"/>
            </a:pPr>
            <a:r>
              <a:rPr lang="en-US" sz="1150" dirty="0">
                <a:solidFill>
                  <a:srgbClr val="1E2A3B"/>
                </a:solidFill>
              </a:rPr>
              <a:t>Configurable evidence checklist (proposed): purpose, retention, evidence source, review status; format to confirm with mentor</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457200" y="128016"/>
            <a:ext cx="8229600" cy="256032"/>
          </a:xfrm>
          <a:prstGeom prst="rect">
            <a:avLst/>
          </a:prstGeom>
          <a:noFill/>
          <a:ln/>
        </p:spPr>
        <p:txBody>
          <a:bodyPr wrap="square" lIns="0" tIns="0" rIns="0" bIns="0" rtlCol="0" anchor="ctr"/>
          <a:lstStyle/>
          <a:p>
            <a:pPr marL="0" indent="0">
              <a:buNone/>
            </a:pPr>
            <a:r>
              <a:rPr lang="en-US" sz="1100" b="1" dirty="0">
                <a:solidFill>
                  <a:srgbClr val="1B3FCC"/>
                </a:solidFill>
              </a:rPr>
              <a:t>AIORI 3</a:t>
            </a:r>
            <a:r>
              <a:rPr lang="en-US" sz="1100" dirty="0">
                <a:solidFill>
                  <a:srgbClr val="4B5B70"/>
                </a:solidFill>
              </a:rPr>
              <a:t>   Solution Optimization</a:t>
            </a:r>
            <a:endParaRPr lang="en-US" sz="1100" dirty="0"/>
          </a:p>
        </p:txBody>
      </p:sp>
      <p:sp>
        <p:nvSpPr>
          <p:cNvPr id="4" name="Text 2"/>
          <p:cNvSpPr txBox="1"/>
          <p:nvPr/>
        </p:nvSpPr>
        <p:spPr>
          <a:xfrm>
            <a:off x="457200" y="411480"/>
            <a:ext cx="8229600" cy="502920"/>
          </a:xfrm>
          <a:prstGeom prst="rect">
            <a:avLst/>
          </a:prstGeom>
          <a:noFill/>
          <a:ln/>
        </p:spPr>
        <p:txBody>
          <a:bodyPr wrap="square" lIns="0" tIns="0" rIns="0" bIns="0" rtlCol="0" anchor="ctr"/>
          <a:lstStyle/>
          <a:p>
            <a:pPr marL="0" indent="0">
              <a:buNone/>
            </a:pPr>
            <a:r>
              <a:rPr lang="en-US" sz="2800" b="1" dirty="0">
                <a:solidFill>
                  <a:srgbClr val="1B3FCC"/>
                </a:solidFill>
              </a:rPr>
              <a:t>Optimization Proposed</a:t>
            </a:r>
            <a:endParaRPr lang="en-US" sz="2800" dirty="0"/>
          </a:p>
        </p:txBody>
      </p:sp>
      <p:sp>
        <p:nvSpPr>
          <p:cNvPr id="5" name="Text 3"/>
          <p:cNvSpPr txBox="1"/>
          <p:nvPr/>
        </p:nvSpPr>
        <p:spPr>
          <a:xfrm>
            <a:off x="457200" y="914400"/>
            <a:ext cx="8229600" cy="320040"/>
          </a:xfrm>
          <a:prstGeom prst="rect">
            <a:avLst/>
          </a:prstGeom>
          <a:noFill/>
          <a:ln/>
        </p:spPr>
        <p:txBody>
          <a:bodyPr wrap="square" lIns="0" tIns="0" rIns="0" bIns="0" rtlCol="0" anchor="ctr"/>
          <a:lstStyle/>
          <a:p>
            <a:pPr marL="0" indent="0">
              <a:buNone/>
            </a:pPr>
            <a:r>
              <a:rPr lang="en-US" sz="1300" dirty="0">
                <a:solidFill>
                  <a:srgbClr val="4B5B70"/>
                </a:solidFill>
              </a:rPr>
              <a:t>Comparison methodology: before and after</a:t>
            </a:r>
            <a:endParaRPr lang="en-US" sz="1300" dirty="0"/>
          </a:p>
        </p:txBody>
      </p:sp>
      <p:sp>
        <p:nvSpPr>
          <p:cNvPr id="6" name="Text 4"/>
          <p:cNvSpPr txBox="1"/>
          <p:nvPr/>
        </p:nvSpPr>
        <p:spPr>
          <a:xfrm>
            <a:off x="457200" y="4800600"/>
            <a:ext cx="5486400" cy="228600"/>
          </a:xfrm>
          <a:prstGeom prst="rect">
            <a:avLst/>
          </a:prstGeom>
          <a:noFill/>
          <a:ln/>
        </p:spPr>
        <p:txBody>
          <a:bodyPr wrap="square" lIns="0" tIns="0" rIns="0" bIns="0" rtlCol="0" anchor="ctr"/>
          <a:lstStyle/>
          <a:p>
            <a:pPr marL="0" indent="0">
              <a:buNone/>
            </a:pPr>
            <a:r>
              <a:rPr lang="en-US" sz="1000" dirty="0">
                <a:solidFill>
                  <a:srgbClr val="4B5B70"/>
                </a:solidFill>
              </a:rPr>
              <a:t>Y. Vashishtha  •  A3-PS019-TC539  •  October 14, 2026</a:t>
            </a:r>
            <a:endParaRPr lang="en-US" sz="1000" dirty="0"/>
          </a:p>
        </p:txBody>
      </p:sp>
      <p:sp>
        <p:nvSpPr>
          <p:cNvPr id="7" name="Text 5"/>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en-US" sz="1000" dirty="0">
                <a:solidFill>
                  <a:srgbClr val="4B5B70"/>
                </a:solidFill>
              </a:rPr>
              <a:t>6 / 11</a:t>
            </a:r>
            <a:endParaRPr lang="en-US" sz="1000" dirty="0"/>
          </a:p>
        </p:txBody>
      </p:sp>
      <p:sp>
        <p:nvSpPr>
          <p:cNvPr id="8" name="Shape 6"/>
          <p:cNvSpPr/>
          <p:nvPr/>
        </p:nvSpPr>
        <p:spPr>
          <a:xfrm>
            <a:off x="457200" y="1234440"/>
            <a:ext cx="8229600" cy="329184"/>
          </a:xfrm>
          <a:prstGeom prst="roundRect">
            <a:avLst>
              <a:gd name="adj" fmla="val 16667"/>
            </a:avLst>
          </a:prstGeom>
          <a:solidFill>
            <a:srgbClr val="FFF6DD"/>
          </a:solidFill>
          <a:ln w="12700">
            <a:solidFill>
              <a:srgbClr val="C98A12"/>
            </a:solidFill>
            <a:prstDash val="solid"/>
          </a:ln>
        </p:spPr>
      </p:sp>
      <p:sp>
        <p:nvSpPr>
          <p:cNvPr id="9" name="Text 7"/>
          <p:cNvSpPr txBox="1"/>
          <p:nvPr/>
        </p:nvSpPr>
        <p:spPr>
          <a:xfrm>
            <a:off x="548640" y="1234440"/>
            <a:ext cx="8046720" cy="329184"/>
          </a:xfrm>
          <a:prstGeom prst="rect">
            <a:avLst/>
          </a:prstGeom>
          <a:noFill/>
          <a:ln/>
        </p:spPr>
        <p:txBody>
          <a:bodyPr wrap="square" lIns="0" tIns="0" rIns="0" bIns="0" rtlCol="0" anchor="ctr"/>
          <a:lstStyle/>
          <a:p>
            <a:pPr marL="0" indent="0">
              <a:buNone/>
            </a:pPr>
            <a:r>
              <a:rPr lang="en-US" sz="1100" b="1" dirty="0">
                <a:solidFill>
                  <a:srgbClr val="8A5A00"/>
                </a:solidFill>
              </a:rPr>
              <a:t>PROPOSED DESIGN. No measured results yet; values will be filled only after experiments run.</a:t>
            </a:r>
            <a:endParaRPr lang="en-US" sz="11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8229600" cy="914400"/>
        </p:xfrm>
        <a:graphic>
          <a:graphicData uri="http://schemas.openxmlformats.org/drawingml/2006/table">
            <a:tbl>
              <a:tblPr/>
              <a:tblGrid>
                <a:gridCol w="210312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tblGrid>
              <a:tr h="0">
                <a:tc>
                  <a:txBody>
                    <a:bodyPr/>
                    <a:lstStyle/>
                    <a:p>
                      <a:pPr marL="0" indent="0">
                        <a:buNone/>
                      </a:pPr>
                      <a:r>
                        <a:rPr lang="en-US" sz="1100" b="1" dirty="0">
                          <a:solidFill>
                            <a:srgbClr val="FFFFFF"/>
                          </a:solidFill>
                        </a:rPr>
                        <a:t>Approach</a:t>
                      </a:r>
                      <a:endParaRPr lang="en-US" sz="110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1B3FCC"/>
                    </a:solidFill>
                  </a:tcPr>
                </a:tc>
                <a:tc>
                  <a:txBody>
                    <a:bodyPr/>
                    <a:lstStyle/>
                    <a:p>
                      <a:pPr marL="0" indent="0">
                        <a:buNone/>
                      </a:pPr>
                      <a:r>
                        <a:rPr lang="en-US" sz="1100" b="1" dirty="0">
                          <a:solidFill>
                            <a:srgbClr val="FFFFFF"/>
                          </a:solidFill>
                        </a:rPr>
                        <a:t>Signals</a:t>
                      </a:r>
                      <a:endParaRPr lang="en-US" sz="110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1B3FCC"/>
                    </a:solidFill>
                  </a:tcPr>
                </a:tc>
                <a:tc>
                  <a:txBody>
                    <a:bodyPr/>
                    <a:lstStyle/>
                    <a:p>
                      <a:pPr marL="0" indent="0">
                        <a:buNone/>
                      </a:pPr>
                      <a:r>
                        <a:rPr lang="en-US" sz="1100" b="1" dirty="0">
                          <a:solidFill>
                            <a:srgbClr val="FFFFFF"/>
                          </a:solidFill>
                        </a:rPr>
                        <a:t>Output</a:t>
                      </a:r>
                      <a:endParaRPr lang="en-US" sz="110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1B3FCC"/>
                    </a:solidFill>
                  </a:tcPr>
                </a:tc>
                <a:tc>
                  <a:txBody>
                    <a:bodyPr/>
                    <a:lstStyle/>
                    <a:p>
                      <a:pPr marL="0" indent="0">
                        <a:buNone/>
                      </a:pPr>
                      <a:r>
                        <a:rPr lang="en-US" sz="1100" b="1" dirty="0">
                          <a:solidFill>
                            <a:srgbClr val="FFFFFF"/>
                          </a:solidFill>
                        </a:rPr>
                        <a:t>What the experiment will test</a:t>
                      </a:r>
                      <a:endParaRPr lang="en-US" sz="110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1B3FCC"/>
                    </a:solidFill>
                  </a:tcPr>
                </a:tc>
                <a:extLst>
                  <a:ext uri="{0D108BD9-81ED-4DB2-BD59-A6C34878D82A}">
                    <a16:rowId xmlns:a16="http://schemas.microsoft.com/office/drawing/2014/main" val="10000"/>
                  </a:ext>
                </a:extLst>
              </a:tr>
              <a:tr h="0">
                <a:tc>
                  <a:txBody>
                    <a:bodyPr/>
                    <a:lstStyle/>
                    <a:p>
                      <a:pPr marL="0" indent="0">
                        <a:buNone/>
                      </a:pPr>
                      <a:r>
                        <a:rPr lang="en-US" sz="1050" b="1" dirty="0">
                          <a:solidFill>
                            <a:srgbClr val="1E2A3B"/>
                          </a:solidFill>
                        </a:rPr>
                        <a:t>A. Name-only baseline</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tc>
                  <a:txBody>
                    <a:bodyPr/>
                    <a:lstStyle/>
                    <a:p>
                      <a:pPr marL="0" indent="0">
                        <a:buNone/>
                      </a:pPr>
                      <a:r>
                        <a:rPr lang="en-US" sz="1050" dirty="0">
                          <a:solidFill>
                            <a:srgbClr val="1E2A3B"/>
                          </a:solidFill>
                        </a:rPr>
                        <a:t>Column-name rules</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tc>
                  <a:txBody>
                    <a:bodyPr/>
                    <a:lstStyle/>
                    <a:p>
                      <a:pPr marL="0" indent="0">
                        <a:buNone/>
                      </a:pPr>
                      <a:r>
                        <a:rPr lang="en-US" sz="1050" dirty="0">
                          <a:solidFill>
                            <a:srgbClr val="1E2A3B"/>
                          </a:solidFill>
                        </a:rPr>
                        <a:t>Flagged fields</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tc>
                  <a:txBody>
                    <a:bodyPr/>
                    <a:lstStyle/>
                    <a:p>
                      <a:pPr marL="0" indent="0">
                        <a:buNone/>
                      </a:pPr>
                      <a:r>
                        <a:rPr lang="en-US" sz="1050" dirty="0">
                          <a:solidFill>
                            <a:srgbClr val="1E2A3B"/>
                          </a:solidFill>
                        </a:rPr>
                        <a:t>Precision/recall per class; misses on ambiguous names</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extLst>
                  <a:ext uri="{0D108BD9-81ED-4DB2-BD59-A6C34878D82A}">
                    <a16:rowId xmlns:a16="http://schemas.microsoft.com/office/drawing/2014/main" val="10001"/>
                  </a:ext>
                </a:extLst>
              </a:tr>
              <a:tr h="0">
                <a:tc>
                  <a:txBody>
                    <a:bodyPr/>
                    <a:lstStyle/>
                    <a:p>
                      <a:pPr marL="0" indent="0">
                        <a:buNone/>
                      </a:pPr>
                      <a:r>
                        <a:rPr lang="en-US" sz="1050" b="1" dirty="0">
                          <a:solidFill>
                            <a:srgbClr val="1E2A3B"/>
                          </a:solidFill>
                        </a:rPr>
                        <a:t>B. Content-pattern baseline</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tc>
                  <a:txBody>
                    <a:bodyPr/>
                    <a:lstStyle/>
                    <a:p>
                      <a:pPr marL="0" indent="0">
                        <a:buNone/>
                      </a:pPr>
                      <a:r>
                        <a:rPr lang="en-US" sz="1050" dirty="0">
                          <a:solidFill>
                            <a:srgbClr val="1E2A3B"/>
                          </a:solidFill>
                        </a:rPr>
                        <a:t>Value patterns</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tc>
                  <a:txBody>
                    <a:bodyPr/>
                    <a:lstStyle/>
                    <a:p>
                      <a:pPr marL="0" indent="0">
                        <a:buNone/>
                      </a:pPr>
                      <a:r>
                        <a:rPr lang="en-US" sz="1050" dirty="0">
                          <a:solidFill>
                            <a:srgbClr val="1E2A3B"/>
                          </a:solidFill>
                        </a:rPr>
                        <a:t>Flagged fields</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tc>
                  <a:txBody>
                    <a:bodyPr/>
                    <a:lstStyle/>
                    <a:p>
                      <a:pPr marL="0" indent="0">
                        <a:buNone/>
                      </a:pPr>
                      <a:r>
                        <a:rPr lang="en-US" sz="1050" dirty="0">
                          <a:solidFill>
                            <a:srgbClr val="1E2A3B"/>
                          </a:solidFill>
                        </a:rPr>
                        <a:t>False positives on look-alike values</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extLst>
                  <a:ext uri="{0D108BD9-81ED-4DB2-BD59-A6C34878D82A}">
                    <a16:rowId xmlns:a16="http://schemas.microsoft.com/office/drawing/2014/main" val="10002"/>
                  </a:ext>
                </a:extLst>
              </a:tr>
              <a:tr h="0">
                <a:tc>
                  <a:txBody>
                    <a:bodyPr/>
                    <a:lstStyle/>
                    <a:p>
                      <a:pPr marL="0" indent="0">
                        <a:buNone/>
                      </a:pPr>
                      <a:r>
                        <a:rPr lang="en-US" sz="1050" b="1" dirty="0">
                          <a:solidFill>
                            <a:srgbClr val="1E2A3B"/>
                          </a:solidFill>
                        </a:rPr>
                        <a:t>C. Multi-signal (proposed)</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tc>
                  <a:txBody>
                    <a:bodyPr/>
                    <a:lstStyle/>
                    <a:p>
                      <a:pPr marL="0" indent="0">
                        <a:buNone/>
                      </a:pPr>
                      <a:r>
                        <a:rPr lang="en-US" sz="1050" dirty="0">
                          <a:solidFill>
                            <a:srgbClr val="1E2A3B"/>
                          </a:solidFill>
                        </a:rPr>
                        <a:t>Name + content + schema</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tc>
                  <a:txBody>
                    <a:bodyPr/>
                    <a:lstStyle/>
                    <a:p>
                      <a:pPr marL="0" indent="0">
                        <a:buNone/>
                      </a:pPr>
                      <a:r>
                        <a:rPr lang="en-US" sz="1050" dirty="0">
                          <a:solidFill>
                            <a:srgbClr val="1E2A3B"/>
                          </a:solidFill>
                        </a:rPr>
                        <a:t>Flagged fields with evidence</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tc>
                  <a:txBody>
                    <a:bodyPr/>
                    <a:lstStyle/>
                    <a:p>
                      <a:pPr marL="0" indent="0">
                        <a:buNone/>
                      </a:pPr>
                      <a:r>
                        <a:rPr lang="en-US" sz="1050" dirty="0">
                          <a:solidFill>
                            <a:srgbClr val="1E2A3B"/>
                          </a:solidFill>
                        </a:rPr>
                        <a:t>Change in per-class precision/recall vs. A and B</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extLst>
                  <a:ext uri="{0D108BD9-81ED-4DB2-BD59-A6C34878D82A}">
                    <a16:rowId xmlns:a16="http://schemas.microsoft.com/office/drawing/2014/main" val="10003"/>
                  </a:ext>
                </a:extLst>
              </a:tr>
              <a:tr h="0">
                <a:tc>
                  <a:txBody>
                    <a:bodyPr/>
                    <a:lstStyle/>
                    <a:p>
                      <a:pPr marL="0" indent="0">
                        <a:buNone/>
                      </a:pPr>
                      <a:r>
                        <a:rPr lang="en-US" sz="1050" b="1" dirty="0">
                          <a:solidFill>
                            <a:srgbClr val="1E2A3B"/>
                          </a:solidFill>
                        </a:rPr>
                        <a:t>D. C + metadata mapping and gap report</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tc>
                  <a:txBody>
                    <a:bodyPr/>
                    <a:lstStyle/>
                    <a:p>
                      <a:pPr marL="0" indent="0">
                        <a:buNone/>
                      </a:pPr>
                      <a:r>
                        <a:rPr lang="en-US" sz="1050" dirty="0">
                          <a:solidFill>
                            <a:srgbClr val="1E2A3B"/>
                          </a:solidFill>
                        </a:rPr>
                        <a:t>C + purpose/retention declarations</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tc>
                  <a:txBody>
                    <a:bodyPr/>
                    <a:lstStyle/>
                    <a:p>
                      <a:pPr marL="0" indent="0">
                        <a:buNone/>
                      </a:pPr>
                      <a:r>
                        <a:rPr lang="en-US" sz="1050" dirty="0">
                          <a:solidFill>
                            <a:srgbClr val="1E2A3B"/>
                          </a:solidFill>
                        </a:rPr>
                        <a:t>Inventory + evidence-gap report</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tc>
                  <a:txBody>
                    <a:bodyPr/>
                    <a:lstStyle/>
                    <a:p>
                      <a:pPr marL="0" indent="0">
                        <a:buNone/>
                      </a:pPr>
                      <a:r>
                        <a:rPr lang="en-US" sz="1050" dirty="0">
                          <a:solidFill>
                            <a:srgbClr val="1E2A3B"/>
                          </a:solidFill>
                        </a:rPr>
                        <a:t>Do reviewers see missing/conflicting metadata that A–C cannot show? (seeded gaps)</a:t>
                      </a:r>
                      <a:endParaRPr lang="en-US" sz="1050" dirty="0"/>
                    </a:p>
                  </a:txBody>
                  <a:tcPr marL="54864" marR="54864" marT="54864" marB="54864" anchor="ctr">
                    <a:lnL w="12700" cap="flat" cmpd="sng" algn="ctr">
                      <a:solidFill>
                        <a:srgbClr val="C5D3E6"/>
                      </a:solidFill>
                      <a:prstDash val="solid"/>
                      <a:round/>
                      <a:headEnd type="none" w="med" len="med"/>
                      <a:tailEnd type="none" w="med" len="med"/>
                    </a:lnL>
                    <a:lnR w="12700" cap="flat" cmpd="sng" algn="ctr">
                      <a:solidFill>
                        <a:srgbClr val="C5D3E6"/>
                      </a:solidFill>
                      <a:prstDash val="solid"/>
                      <a:round/>
                      <a:headEnd type="none" w="med" len="med"/>
                      <a:tailEnd type="none" w="med" len="med"/>
                    </a:lnR>
                    <a:lnT w="12700" cap="flat" cmpd="sng" algn="ctr">
                      <a:solidFill>
                        <a:srgbClr val="C5D3E6"/>
                      </a:solidFill>
                      <a:prstDash val="solid"/>
                      <a:round/>
                      <a:headEnd type="none" w="med" len="med"/>
                      <a:tailEnd type="none" w="med" len="med"/>
                    </a:lnT>
                    <a:lnB w="12700" cap="flat" cmpd="sng" algn="ctr">
                      <a:solidFill>
                        <a:srgbClr val="C5D3E6"/>
                      </a:solidFill>
                      <a:prstDash val="solid"/>
                      <a:round/>
                      <a:headEnd type="none" w="med" len="med"/>
                      <a:tailEnd type="none" w="med" len="med"/>
                    </a:lnB>
                    <a:solidFill>
                      <a:srgbClr val="F3F7FC"/>
                    </a:solidFill>
                  </a:tcPr>
                </a:tc>
                <a:extLst>
                  <a:ext uri="{0D108BD9-81ED-4DB2-BD59-A6C34878D82A}">
                    <a16:rowId xmlns:a16="http://schemas.microsoft.com/office/drawing/2014/main" val="10004"/>
                  </a:ext>
                </a:extLst>
              </a:tr>
            </a:tbl>
          </a:graphicData>
        </a:graphic>
      </p:graphicFrame>
      <p:sp>
        <p:nvSpPr>
          <p:cNvPr id="11" name="Text 8"/>
          <p:cNvSpPr txBox="1"/>
          <p:nvPr/>
        </p:nvSpPr>
        <p:spPr>
          <a:xfrm>
            <a:off x="457200" y="4160520"/>
            <a:ext cx="8229600" cy="457200"/>
          </a:xfrm>
          <a:prstGeom prst="rect">
            <a:avLst/>
          </a:prstGeom>
          <a:noFill/>
          <a:ln/>
        </p:spPr>
        <p:txBody>
          <a:bodyPr wrap="square" lIns="0" tIns="0" rIns="0" bIns="0" rtlCol="0" anchor="ctr"/>
          <a:lstStyle/>
          <a:p>
            <a:pPr marL="0" indent="0">
              <a:buNone/>
            </a:pPr>
            <a:r>
              <a:rPr lang="en-US" sz="1200" dirty="0">
                <a:solidFill>
                  <a:srgbClr val="1E2A3B"/>
                </a:solidFill>
              </a:rPr>
              <a:t>Planned metrics: raw TP / FP / FN, per-class precision and recall, error analysis of false positives and false negatives.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457200" y="128016"/>
            <a:ext cx="8229600" cy="256032"/>
          </a:xfrm>
          <a:prstGeom prst="rect">
            <a:avLst/>
          </a:prstGeom>
          <a:noFill/>
          <a:ln/>
        </p:spPr>
        <p:txBody>
          <a:bodyPr wrap="square" lIns="0" tIns="0" rIns="0" bIns="0" rtlCol="0" anchor="ctr"/>
          <a:lstStyle/>
          <a:p>
            <a:pPr marL="0" indent="0">
              <a:buNone/>
            </a:pPr>
            <a:r>
              <a:rPr lang="en-US" sz="1100" b="1" dirty="0">
                <a:solidFill>
                  <a:srgbClr val="1B3FCC"/>
                </a:solidFill>
              </a:rPr>
              <a:t>AIORI 3</a:t>
            </a:r>
            <a:r>
              <a:rPr lang="en-US" sz="1100" dirty="0">
                <a:solidFill>
                  <a:srgbClr val="4B5B70"/>
                </a:solidFill>
              </a:rPr>
              <a:t>   Architecture Design (UML Diagram)</a:t>
            </a:r>
            <a:endParaRPr lang="en-US" sz="1100" dirty="0"/>
          </a:p>
        </p:txBody>
      </p:sp>
      <p:sp>
        <p:nvSpPr>
          <p:cNvPr id="4" name="Text 2"/>
          <p:cNvSpPr txBox="1"/>
          <p:nvPr/>
        </p:nvSpPr>
        <p:spPr>
          <a:xfrm>
            <a:off x="457200" y="411480"/>
            <a:ext cx="8229600" cy="502920"/>
          </a:xfrm>
          <a:prstGeom prst="rect">
            <a:avLst/>
          </a:prstGeom>
          <a:noFill/>
          <a:ln/>
        </p:spPr>
        <p:txBody>
          <a:bodyPr wrap="square" lIns="0" tIns="0" rIns="0" bIns="0" rtlCol="0" anchor="ctr"/>
          <a:lstStyle/>
          <a:p>
            <a:pPr marL="0" indent="0">
              <a:buNone/>
            </a:pPr>
            <a:r>
              <a:rPr lang="en-US" sz="2800" b="1" dirty="0">
                <a:solidFill>
                  <a:srgbClr val="1B3FCC"/>
                </a:solidFill>
              </a:rPr>
              <a:t>Solution Architecture &amp; Design</a:t>
            </a:r>
            <a:endParaRPr lang="en-US" sz="2800" dirty="0"/>
          </a:p>
        </p:txBody>
      </p:sp>
      <p:sp>
        <p:nvSpPr>
          <p:cNvPr id="5" name="Text 3"/>
          <p:cNvSpPr txBox="1"/>
          <p:nvPr/>
        </p:nvSpPr>
        <p:spPr>
          <a:xfrm>
            <a:off x="457200" y="914400"/>
            <a:ext cx="8229600" cy="320040"/>
          </a:xfrm>
          <a:prstGeom prst="rect">
            <a:avLst/>
          </a:prstGeom>
          <a:noFill/>
          <a:ln/>
        </p:spPr>
        <p:txBody>
          <a:bodyPr wrap="square" lIns="0" tIns="0" rIns="0" bIns="0" rtlCol="0" anchor="ctr"/>
          <a:lstStyle/>
          <a:p>
            <a:pPr marL="0" indent="0">
              <a:buNone/>
            </a:pPr>
            <a:r>
              <a:rPr lang="en-US" sz="1300" dirty="0">
                <a:solidFill>
                  <a:srgbClr val="4B5B70"/>
                </a:solidFill>
              </a:rPr>
              <a:t>System Architecture: processing flow of FieldLedger components</a:t>
            </a:r>
            <a:endParaRPr lang="en-US" sz="1300" dirty="0"/>
          </a:p>
        </p:txBody>
      </p:sp>
      <p:sp>
        <p:nvSpPr>
          <p:cNvPr id="6" name="Text 4"/>
          <p:cNvSpPr txBox="1"/>
          <p:nvPr/>
        </p:nvSpPr>
        <p:spPr>
          <a:xfrm>
            <a:off x="457200" y="4800600"/>
            <a:ext cx="5486400" cy="228600"/>
          </a:xfrm>
          <a:prstGeom prst="rect">
            <a:avLst/>
          </a:prstGeom>
          <a:noFill/>
          <a:ln/>
        </p:spPr>
        <p:txBody>
          <a:bodyPr wrap="square" lIns="0" tIns="0" rIns="0" bIns="0" rtlCol="0" anchor="ctr"/>
          <a:lstStyle/>
          <a:p>
            <a:pPr marL="0" indent="0">
              <a:buNone/>
            </a:pPr>
            <a:r>
              <a:rPr lang="en-US" sz="1000" dirty="0">
                <a:solidFill>
                  <a:srgbClr val="4B5B70"/>
                </a:solidFill>
              </a:rPr>
              <a:t>Y. Vashishtha  •  A3-PS019-TC539  •  October 14, 2026</a:t>
            </a:r>
            <a:endParaRPr lang="en-US" sz="1000" dirty="0"/>
          </a:p>
        </p:txBody>
      </p:sp>
      <p:sp>
        <p:nvSpPr>
          <p:cNvPr id="7" name="Text 5"/>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en-US" sz="1000" dirty="0">
                <a:solidFill>
                  <a:srgbClr val="4B5B70"/>
                </a:solidFill>
              </a:rPr>
              <a:t>7 / 11</a:t>
            </a:r>
            <a:endParaRPr lang="en-US" sz="1000" dirty="0"/>
          </a:p>
        </p:txBody>
      </p:sp>
      <p:sp>
        <p:nvSpPr>
          <p:cNvPr id="8" name="Shape 6"/>
          <p:cNvSpPr/>
          <p:nvPr/>
        </p:nvSpPr>
        <p:spPr>
          <a:xfrm>
            <a:off x="457200" y="1417320"/>
            <a:ext cx="2468880" cy="685800"/>
          </a:xfrm>
          <a:prstGeom prst="roundRect">
            <a:avLst>
              <a:gd name="adj" fmla="val 8000"/>
            </a:avLst>
          </a:prstGeom>
          <a:solidFill>
            <a:srgbClr val="DCE8F9"/>
          </a:solidFill>
          <a:ln w="12700">
            <a:solidFill>
              <a:srgbClr val="0E8F87"/>
            </a:solidFill>
            <a:prstDash val="solid"/>
          </a:ln>
        </p:spPr>
      </p:sp>
      <p:sp>
        <p:nvSpPr>
          <p:cNvPr id="9" name="Text 7"/>
          <p:cNvSpPr txBox="1"/>
          <p:nvPr/>
        </p:nvSpPr>
        <p:spPr>
          <a:xfrm>
            <a:off x="530352" y="1417320"/>
            <a:ext cx="2322576" cy="685800"/>
          </a:xfrm>
          <a:prstGeom prst="rect">
            <a:avLst/>
          </a:prstGeom>
          <a:noFill/>
          <a:ln/>
        </p:spPr>
        <p:txBody>
          <a:bodyPr wrap="square" lIns="0" tIns="0" rIns="0" bIns="0" rtlCol="0" anchor="ctr"/>
          <a:lstStyle/>
          <a:p>
            <a:pPr marL="0" indent="0" algn="ctr">
              <a:buNone/>
            </a:pPr>
            <a:r>
              <a:rPr lang="en-US" sz="1300" b="1" dirty="0">
                <a:solidFill>
                  <a:srgbClr val="1E2A3B"/>
                </a:solidFill>
              </a:rPr>
              <a:t>Source adapters</a:t>
            </a:r>
            <a:endParaRPr lang="en-US" sz="1300" dirty="0"/>
          </a:p>
          <a:p>
            <a:pPr marL="0" indent="0" algn="ctr">
              <a:buNone/>
            </a:pPr>
            <a:r>
              <a:rPr lang="en-US" sz="1050" dirty="0">
                <a:solidFill>
                  <a:srgbClr val="34455A"/>
                </a:solidFill>
              </a:rPr>
              <a:t>CSV adapter | SQLite adapter</a:t>
            </a:r>
            <a:endParaRPr lang="en-US" sz="1300" dirty="0"/>
          </a:p>
        </p:txBody>
      </p:sp>
      <p:sp>
        <p:nvSpPr>
          <p:cNvPr id="10" name="Shape 8"/>
          <p:cNvSpPr/>
          <p:nvPr/>
        </p:nvSpPr>
        <p:spPr>
          <a:xfrm>
            <a:off x="3337560" y="1417320"/>
            <a:ext cx="2468880" cy="685800"/>
          </a:xfrm>
          <a:prstGeom prst="roundRect">
            <a:avLst>
              <a:gd name="adj" fmla="val 8000"/>
            </a:avLst>
          </a:prstGeom>
          <a:solidFill>
            <a:srgbClr val="E8F8F6"/>
          </a:solidFill>
          <a:ln w="12700">
            <a:solidFill>
              <a:srgbClr val="0E8F87"/>
            </a:solidFill>
            <a:prstDash val="solid"/>
          </a:ln>
        </p:spPr>
      </p:sp>
      <p:sp>
        <p:nvSpPr>
          <p:cNvPr id="11" name="Text 9"/>
          <p:cNvSpPr txBox="1"/>
          <p:nvPr/>
        </p:nvSpPr>
        <p:spPr>
          <a:xfrm>
            <a:off x="3410712" y="1417320"/>
            <a:ext cx="2322576" cy="685800"/>
          </a:xfrm>
          <a:prstGeom prst="rect">
            <a:avLst/>
          </a:prstGeom>
          <a:noFill/>
          <a:ln/>
        </p:spPr>
        <p:txBody>
          <a:bodyPr wrap="square" lIns="0" tIns="0" rIns="0" bIns="0" rtlCol="0" anchor="ctr"/>
          <a:lstStyle/>
          <a:p>
            <a:pPr marL="0" indent="0" algn="ctr">
              <a:buNone/>
            </a:pPr>
            <a:r>
              <a:rPr lang="en-US" sz="1300" b="1" dirty="0">
                <a:solidFill>
                  <a:srgbClr val="1E2A3B"/>
                </a:solidFill>
              </a:rPr>
              <a:t>Configurable rule engine</a:t>
            </a:r>
            <a:endParaRPr lang="en-US" sz="1300" dirty="0"/>
          </a:p>
          <a:p>
            <a:pPr marL="0" indent="0" algn="ctr">
              <a:buNone/>
            </a:pPr>
            <a:r>
              <a:rPr lang="en-US" sz="1050" dirty="0">
                <a:solidFill>
                  <a:srgbClr val="34455A"/>
                </a:solidFill>
              </a:rPr>
              <a:t>name, content, schema rules (from rule config)</a:t>
            </a:r>
            <a:endParaRPr lang="en-US" sz="1300" dirty="0"/>
          </a:p>
        </p:txBody>
      </p:sp>
      <p:sp>
        <p:nvSpPr>
          <p:cNvPr id="12" name="Shape 10"/>
          <p:cNvSpPr/>
          <p:nvPr/>
        </p:nvSpPr>
        <p:spPr>
          <a:xfrm>
            <a:off x="6217920" y="1417320"/>
            <a:ext cx="2468880" cy="685800"/>
          </a:xfrm>
          <a:prstGeom prst="roundRect">
            <a:avLst>
              <a:gd name="adj" fmla="val 8000"/>
            </a:avLst>
          </a:prstGeom>
          <a:solidFill>
            <a:srgbClr val="E8F8F6"/>
          </a:solidFill>
          <a:ln w="12700">
            <a:solidFill>
              <a:srgbClr val="0E8F87"/>
            </a:solidFill>
            <a:prstDash val="solid"/>
          </a:ln>
        </p:spPr>
      </p:sp>
      <p:sp>
        <p:nvSpPr>
          <p:cNvPr id="13" name="Text 11"/>
          <p:cNvSpPr txBox="1"/>
          <p:nvPr/>
        </p:nvSpPr>
        <p:spPr>
          <a:xfrm>
            <a:off x="6291072" y="1417320"/>
            <a:ext cx="2322576" cy="685800"/>
          </a:xfrm>
          <a:prstGeom prst="rect">
            <a:avLst/>
          </a:prstGeom>
          <a:noFill/>
          <a:ln/>
        </p:spPr>
        <p:txBody>
          <a:bodyPr wrap="square" lIns="0" tIns="0" rIns="0" bIns="0" rtlCol="0" anchor="ctr"/>
          <a:lstStyle/>
          <a:p>
            <a:pPr marL="0" indent="0" algn="ctr">
              <a:buNone/>
            </a:pPr>
            <a:r>
              <a:rPr lang="en-US" sz="1300" b="1" dirty="0">
                <a:solidFill>
                  <a:srgbClr val="1E2A3B"/>
                </a:solidFill>
              </a:rPr>
              <a:t>Evidence generator</a:t>
            </a:r>
            <a:endParaRPr lang="en-US" sz="1300" dirty="0"/>
          </a:p>
          <a:p>
            <a:pPr marL="0" indent="0" algn="ctr">
              <a:buNone/>
            </a:pPr>
            <a:r>
              <a:rPr lang="en-US" sz="1050" dirty="0">
                <a:solidFill>
                  <a:srgbClr val="34455A"/>
                </a:solidFill>
              </a:rPr>
              <a:t>rules fired + reasons</a:t>
            </a:r>
            <a:endParaRPr lang="en-US" sz="1300" dirty="0"/>
          </a:p>
        </p:txBody>
      </p:sp>
      <p:sp>
        <p:nvSpPr>
          <p:cNvPr id="14" name="Shape 12"/>
          <p:cNvSpPr/>
          <p:nvPr/>
        </p:nvSpPr>
        <p:spPr>
          <a:xfrm>
            <a:off x="6217920" y="2514600"/>
            <a:ext cx="2468880" cy="685800"/>
          </a:xfrm>
          <a:prstGeom prst="roundRect">
            <a:avLst>
              <a:gd name="adj" fmla="val 8000"/>
            </a:avLst>
          </a:prstGeom>
          <a:solidFill>
            <a:srgbClr val="E8F8F6"/>
          </a:solidFill>
          <a:ln w="12700">
            <a:solidFill>
              <a:srgbClr val="0E8F87"/>
            </a:solidFill>
            <a:prstDash val="solid"/>
          </a:ln>
        </p:spPr>
      </p:sp>
      <p:sp>
        <p:nvSpPr>
          <p:cNvPr id="15" name="Text 13"/>
          <p:cNvSpPr txBox="1"/>
          <p:nvPr/>
        </p:nvSpPr>
        <p:spPr>
          <a:xfrm>
            <a:off x="6291072" y="2514600"/>
            <a:ext cx="2322576" cy="685800"/>
          </a:xfrm>
          <a:prstGeom prst="rect">
            <a:avLst/>
          </a:prstGeom>
          <a:noFill/>
          <a:ln/>
        </p:spPr>
        <p:txBody>
          <a:bodyPr wrap="square" lIns="0" tIns="0" rIns="0" bIns="0" rtlCol="0" anchor="ctr"/>
          <a:lstStyle/>
          <a:p>
            <a:pPr marL="0" indent="0" algn="ctr">
              <a:buNone/>
            </a:pPr>
            <a:r>
              <a:rPr lang="en-US" sz="1300" b="1" dirty="0">
                <a:solidFill>
                  <a:srgbClr val="1E2A3B"/>
                </a:solidFill>
              </a:rPr>
              <a:t>Metadata mapper</a:t>
            </a:r>
            <a:endParaRPr lang="en-US" sz="1300" dirty="0"/>
          </a:p>
          <a:p>
            <a:pPr marL="0" indent="0" algn="ctr">
              <a:buNone/>
            </a:pPr>
            <a:r>
              <a:rPr lang="en-US" sz="1050" dirty="0">
                <a:solidFill>
                  <a:srgbClr val="34455A"/>
                </a:solidFill>
              </a:rPr>
              <a:t>joins declared purpose + retention metadata</a:t>
            </a:r>
            <a:endParaRPr lang="en-US" sz="1300" dirty="0"/>
          </a:p>
        </p:txBody>
      </p:sp>
      <p:sp>
        <p:nvSpPr>
          <p:cNvPr id="16" name="Shape 14"/>
          <p:cNvSpPr/>
          <p:nvPr/>
        </p:nvSpPr>
        <p:spPr>
          <a:xfrm>
            <a:off x="3337560" y="2514600"/>
            <a:ext cx="2468880" cy="685800"/>
          </a:xfrm>
          <a:prstGeom prst="roundRect">
            <a:avLst>
              <a:gd name="adj" fmla="val 8000"/>
            </a:avLst>
          </a:prstGeom>
          <a:solidFill>
            <a:srgbClr val="E8F8F6"/>
          </a:solidFill>
          <a:ln w="12700">
            <a:solidFill>
              <a:srgbClr val="0E8F87"/>
            </a:solidFill>
            <a:prstDash val="solid"/>
          </a:ln>
        </p:spPr>
      </p:sp>
      <p:sp>
        <p:nvSpPr>
          <p:cNvPr id="17" name="Text 15"/>
          <p:cNvSpPr txBox="1"/>
          <p:nvPr/>
        </p:nvSpPr>
        <p:spPr>
          <a:xfrm>
            <a:off x="3410712" y="2514600"/>
            <a:ext cx="2322576" cy="685800"/>
          </a:xfrm>
          <a:prstGeom prst="rect">
            <a:avLst/>
          </a:prstGeom>
          <a:noFill/>
          <a:ln/>
        </p:spPr>
        <p:txBody>
          <a:bodyPr wrap="square" lIns="0" tIns="0" rIns="0" bIns="0" rtlCol="0" anchor="ctr"/>
          <a:lstStyle/>
          <a:p>
            <a:pPr marL="0" indent="0" algn="ctr">
              <a:buNone/>
            </a:pPr>
            <a:r>
              <a:rPr lang="en-US" sz="1300" b="1" dirty="0">
                <a:solidFill>
                  <a:srgbClr val="1E2A3B"/>
                </a:solidFill>
              </a:rPr>
              <a:t>Gap analyzer</a:t>
            </a:r>
            <a:endParaRPr lang="en-US" sz="1300" dirty="0"/>
          </a:p>
          <a:p>
            <a:pPr marL="0" indent="0" algn="ctr">
              <a:buNone/>
            </a:pPr>
            <a:r>
              <a:rPr lang="en-US" sz="1050" dirty="0">
                <a:solidFill>
                  <a:srgbClr val="34455A"/>
                </a:solidFill>
              </a:rPr>
              <a:t>missing / conflicting metadata</a:t>
            </a:r>
            <a:endParaRPr lang="en-US" sz="1300" dirty="0"/>
          </a:p>
        </p:txBody>
      </p:sp>
      <p:sp>
        <p:nvSpPr>
          <p:cNvPr id="18" name="Shape 16"/>
          <p:cNvSpPr/>
          <p:nvPr/>
        </p:nvSpPr>
        <p:spPr>
          <a:xfrm>
            <a:off x="457200" y="2514600"/>
            <a:ext cx="2468880" cy="685800"/>
          </a:xfrm>
          <a:prstGeom prst="roundRect">
            <a:avLst>
              <a:gd name="adj" fmla="val 8000"/>
            </a:avLst>
          </a:prstGeom>
          <a:solidFill>
            <a:srgbClr val="D6F3EF"/>
          </a:solidFill>
          <a:ln w="12700">
            <a:solidFill>
              <a:srgbClr val="0E8F87"/>
            </a:solidFill>
            <a:prstDash val="solid"/>
          </a:ln>
        </p:spPr>
      </p:sp>
      <p:sp>
        <p:nvSpPr>
          <p:cNvPr id="19" name="Text 17"/>
          <p:cNvSpPr txBox="1"/>
          <p:nvPr/>
        </p:nvSpPr>
        <p:spPr>
          <a:xfrm>
            <a:off x="530352" y="2514600"/>
            <a:ext cx="2322576" cy="685800"/>
          </a:xfrm>
          <a:prstGeom prst="rect">
            <a:avLst/>
          </a:prstGeom>
          <a:noFill/>
          <a:ln/>
        </p:spPr>
        <p:txBody>
          <a:bodyPr wrap="square" lIns="0" tIns="0" rIns="0" bIns="0" rtlCol="0" anchor="ctr"/>
          <a:lstStyle/>
          <a:p>
            <a:pPr marL="0" indent="0" algn="ctr">
              <a:buNone/>
            </a:pPr>
            <a:r>
              <a:rPr lang="en-US" sz="1300" b="1" dirty="0">
                <a:solidFill>
                  <a:srgbClr val="1E2A3B"/>
                </a:solidFill>
              </a:rPr>
              <a:t>Structured inventory</a:t>
            </a:r>
            <a:endParaRPr lang="en-US" sz="1300" dirty="0"/>
          </a:p>
          <a:p>
            <a:pPr marL="0" indent="0" algn="ctr">
              <a:buNone/>
            </a:pPr>
            <a:r>
              <a:rPr lang="en-US" sz="1050" dirty="0">
                <a:solidFill>
                  <a:srgbClr val="34455A"/>
                </a:solidFill>
              </a:rPr>
              <a:t>field-level findings</a:t>
            </a:r>
            <a:endParaRPr lang="en-US" sz="1300" dirty="0"/>
          </a:p>
        </p:txBody>
      </p:sp>
      <p:sp>
        <p:nvSpPr>
          <p:cNvPr id="20" name="Shape 18"/>
          <p:cNvSpPr/>
          <p:nvPr/>
        </p:nvSpPr>
        <p:spPr>
          <a:xfrm>
            <a:off x="457200" y="3611880"/>
            <a:ext cx="2468880" cy="685800"/>
          </a:xfrm>
          <a:prstGeom prst="roundRect">
            <a:avLst>
              <a:gd name="adj" fmla="val 8000"/>
            </a:avLst>
          </a:prstGeom>
          <a:solidFill>
            <a:srgbClr val="D6F3EF"/>
          </a:solidFill>
          <a:ln w="12700">
            <a:solidFill>
              <a:srgbClr val="0E8F87"/>
            </a:solidFill>
            <a:prstDash val="solid"/>
          </a:ln>
        </p:spPr>
      </p:sp>
      <p:sp>
        <p:nvSpPr>
          <p:cNvPr id="21" name="Text 19"/>
          <p:cNvSpPr txBox="1"/>
          <p:nvPr/>
        </p:nvSpPr>
        <p:spPr>
          <a:xfrm>
            <a:off x="530352" y="3611880"/>
            <a:ext cx="2322576" cy="685800"/>
          </a:xfrm>
          <a:prstGeom prst="rect">
            <a:avLst/>
          </a:prstGeom>
          <a:noFill/>
          <a:ln/>
        </p:spPr>
        <p:txBody>
          <a:bodyPr wrap="square" lIns="0" tIns="0" rIns="0" bIns="0" rtlCol="0" anchor="ctr"/>
          <a:lstStyle/>
          <a:p>
            <a:pPr marL="0" indent="0" algn="ctr">
              <a:buNone/>
            </a:pPr>
            <a:r>
              <a:rPr lang="en-US" sz="1300" b="1" dirty="0">
                <a:solidFill>
                  <a:srgbClr val="1E2A3B"/>
                </a:solidFill>
              </a:rPr>
              <a:t>Evaluation component</a:t>
            </a:r>
            <a:endParaRPr lang="en-US" sz="1300" dirty="0"/>
          </a:p>
          <a:p>
            <a:pPr marL="0" indent="0" algn="ctr">
              <a:buNone/>
            </a:pPr>
            <a:r>
              <a:rPr lang="en-US" sz="1050" dirty="0">
                <a:solidFill>
                  <a:srgbClr val="34455A"/>
                </a:solidFill>
              </a:rPr>
              <a:t>per-class P/R vs. labelled ground truth</a:t>
            </a:r>
            <a:endParaRPr lang="en-US" sz="1300" dirty="0"/>
          </a:p>
        </p:txBody>
      </p:sp>
      <p:sp>
        <p:nvSpPr>
          <p:cNvPr id="22" name="Shape 20"/>
          <p:cNvSpPr/>
          <p:nvPr/>
        </p:nvSpPr>
        <p:spPr>
          <a:xfrm>
            <a:off x="3337560" y="3611880"/>
            <a:ext cx="2468880" cy="685800"/>
          </a:xfrm>
          <a:prstGeom prst="roundRect">
            <a:avLst>
              <a:gd name="adj" fmla="val 8000"/>
            </a:avLst>
          </a:prstGeom>
          <a:solidFill>
            <a:srgbClr val="D6F3EF"/>
          </a:solidFill>
          <a:ln w="12700">
            <a:solidFill>
              <a:srgbClr val="0E8F87"/>
            </a:solidFill>
            <a:prstDash val="solid"/>
          </a:ln>
        </p:spPr>
      </p:sp>
      <p:sp>
        <p:nvSpPr>
          <p:cNvPr id="23" name="Text 21"/>
          <p:cNvSpPr txBox="1"/>
          <p:nvPr/>
        </p:nvSpPr>
        <p:spPr>
          <a:xfrm>
            <a:off x="3410712" y="3611880"/>
            <a:ext cx="2322576" cy="685800"/>
          </a:xfrm>
          <a:prstGeom prst="rect">
            <a:avLst/>
          </a:prstGeom>
          <a:noFill/>
          <a:ln/>
        </p:spPr>
        <p:txBody>
          <a:bodyPr wrap="square" lIns="0" tIns="0" rIns="0" bIns="0" rtlCol="0" anchor="ctr"/>
          <a:lstStyle/>
          <a:p>
            <a:pPr marL="0" indent="0" algn="ctr">
              <a:buNone/>
            </a:pPr>
            <a:r>
              <a:rPr lang="en-US" sz="1300" b="1" dirty="0">
                <a:solidFill>
                  <a:srgbClr val="1E2A3B"/>
                </a:solidFill>
              </a:rPr>
              <a:t>Report generation</a:t>
            </a:r>
            <a:endParaRPr lang="en-US" sz="1300" dirty="0"/>
          </a:p>
          <a:p>
            <a:pPr marL="0" indent="0" algn="ctr">
              <a:buNone/>
            </a:pPr>
            <a:r>
              <a:rPr lang="en-US" sz="1050" dirty="0">
                <a:solidFill>
                  <a:srgbClr val="34455A"/>
                </a:solidFill>
              </a:rPr>
              <a:t>inventory, gaps, evaluation</a:t>
            </a:r>
            <a:endParaRPr lang="en-US" sz="1300" dirty="0"/>
          </a:p>
        </p:txBody>
      </p:sp>
      <p:sp>
        <p:nvSpPr>
          <p:cNvPr id="24" name="Shape 22"/>
          <p:cNvSpPr/>
          <p:nvPr/>
        </p:nvSpPr>
        <p:spPr>
          <a:xfrm>
            <a:off x="6217920" y="3611880"/>
            <a:ext cx="2468880" cy="685800"/>
          </a:xfrm>
          <a:prstGeom prst="roundRect">
            <a:avLst>
              <a:gd name="adj" fmla="val 8000"/>
            </a:avLst>
          </a:prstGeom>
          <a:solidFill>
            <a:srgbClr val="DCE8F9"/>
          </a:solidFill>
          <a:ln w="12700">
            <a:solidFill>
              <a:srgbClr val="0E8F87"/>
            </a:solidFill>
            <a:prstDash val="solid"/>
          </a:ln>
        </p:spPr>
      </p:sp>
      <p:sp>
        <p:nvSpPr>
          <p:cNvPr id="25" name="Text 23"/>
          <p:cNvSpPr txBox="1"/>
          <p:nvPr/>
        </p:nvSpPr>
        <p:spPr>
          <a:xfrm>
            <a:off x="6291072" y="3611880"/>
            <a:ext cx="2322576" cy="685800"/>
          </a:xfrm>
          <a:prstGeom prst="rect">
            <a:avLst/>
          </a:prstGeom>
          <a:noFill/>
          <a:ln/>
        </p:spPr>
        <p:txBody>
          <a:bodyPr wrap="square" lIns="0" tIns="0" rIns="0" bIns="0" rtlCol="0" anchor="ctr"/>
          <a:lstStyle/>
          <a:p>
            <a:pPr marL="0" indent="0" algn="ctr">
              <a:buNone/>
            </a:pPr>
            <a:r>
              <a:rPr lang="en-US" sz="1300" b="1" dirty="0">
                <a:solidFill>
                  <a:srgbClr val="1E2A3B"/>
                </a:solidFill>
              </a:rPr>
              <a:t>Human review</a:t>
            </a:r>
            <a:endParaRPr lang="en-US" sz="1300" dirty="0"/>
          </a:p>
          <a:p>
            <a:pPr marL="0" indent="0" algn="ctr">
              <a:buNone/>
            </a:pPr>
            <a:r>
              <a:rPr lang="en-US" sz="1050" dirty="0">
                <a:solidFill>
                  <a:srgbClr val="34455A"/>
                </a:solidFill>
              </a:rPr>
              <a:t>accept / reject / annotate; saved as separate records</a:t>
            </a:r>
            <a:endParaRPr lang="en-US" sz="1300" dirty="0"/>
          </a:p>
        </p:txBody>
      </p:sp>
      <p:sp>
        <p:nvSpPr>
          <p:cNvPr id="26" name="Shape 24"/>
          <p:cNvSpPr/>
          <p:nvPr/>
        </p:nvSpPr>
        <p:spPr>
          <a:xfrm>
            <a:off x="2926080" y="1760220"/>
            <a:ext cx="411480" cy="0"/>
          </a:xfrm>
          <a:prstGeom prst="line">
            <a:avLst/>
          </a:prstGeom>
          <a:noFill/>
          <a:ln w="22225">
            <a:solidFill>
              <a:srgbClr val="0E8F87"/>
            </a:solidFill>
            <a:prstDash val="solid"/>
            <a:tailEnd type="triangle"/>
          </a:ln>
        </p:spPr>
      </p:sp>
      <p:sp>
        <p:nvSpPr>
          <p:cNvPr id="27" name="Shape 25"/>
          <p:cNvSpPr/>
          <p:nvPr/>
        </p:nvSpPr>
        <p:spPr>
          <a:xfrm>
            <a:off x="5806440" y="1760220"/>
            <a:ext cx="411480" cy="0"/>
          </a:xfrm>
          <a:prstGeom prst="line">
            <a:avLst/>
          </a:prstGeom>
          <a:noFill/>
          <a:ln w="22225">
            <a:solidFill>
              <a:srgbClr val="0E8F87"/>
            </a:solidFill>
            <a:prstDash val="solid"/>
            <a:tailEnd type="triangle"/>
          </a:ln>
        </p:spPr>
      </p:sp>
      <p:sp>
        <p:nvSpPr>
          <p:cNvPr id="28" name="Shape 26"/>
          <p:cNvSpPr/>
          <p:nvPr/>
        </p:nvSpPr>
        <p:spPr>
          <a:xfrm>
            <a:off x="7452360" y="2103120"/>
            <a:ext cx="0" cy="365760"/>
          </a:xfrm>
          <a:prstGeom prst="line">
            <a:avLst/>
          </a:prstGeom>
          <a:noFill/>
          <a:ln w="22225">
            <a:solidFill>
              <a:srgbClr val="0E8F87"/>
            </a:solidFill>
            <a:prstDash val="solid"/>
            <a:tailEnd type="triangle"/>
          </a:ln>
        </p:spPr>
      </p:sp>
      <p:sp>
        <p:nvSpPr>
          <p:cNvPr id="29" name="Shape 27"/>
          <p:cNvSpPr/>
          <p:nvPr/>
        </p:nvSpPr>
        <p:spPr>
          <a:xfrm flipH="1">
            <a:off x="5806440" y="2857500"/>
            <a:ext cx="411480" cy="0"/>
          </a:xfrm>
          <a:prstGeom prst="line">
            <a:avLst/>
          </a:prstGeom>
          <a:noFill/>
          <a:ln w="22225">
            <a:solidFill>
              <a:srgbClr val="0E8F87"/>
            </a:solidFill>
            <a:prstDash val="solid"/>
            <a:tailEnd type="triangle"/>
          </a:ln>
        </p:spPr>
      </p:sp>
      <p:sp>
        <p:nvSpPr>
          <p:cNvPr id="30" name="Shape 28"/>
          <p:cNvSpPr/>
          <p:nvPr/>
        </p:nvSpPr>
        <p:spPr>
          <a:xfrm flipH="1">
            <a:off x="2926080" y="2857500"/>
            <a:ext cx="411480" cy="0"/>
          </a:xfrm>
          <a:prstGeom prst="line">
            <a:avLst/>
          </a:prstGeom>
          <a:noFill/>
          <a:ln w="22225">
            <a:solidFill>
              <a:srgbClr val="0E8F87"/>
            </a:solidFill>
            <a:prstDash val="solid"/>
            <a:tailEnd type="triangle"/>
          </a:ln>
        </p:spPr>
      </p:sp>
      <p:sp>
        <p:nvSpPr>
          <p:cNvPr id="31" name="Shape 29"/>
          <p:cNvSpPr/>
          <p:nvPr/>
        </p:nvSpPr>
        <p:spPr>
          <a:xfrm>
            <a:off x="1691640" y="3200400"/>
            <a:ext cx="0" cy="365760"/>
          </a:xfrm>
          <a:prstGeom prst="line">
            <a:avLst/>
          </a:prstGeom>
          <a:noFill/>
          <a:ln w="22225">
            <a:solidFill>
              <a:srgbClr val="0E8F87"/>
            </a:solidFill>
            <a:prstDash val="solid"/>
            <a:tailEnd type="triangle"/>
          </a:ln>
        </p:spPr>
      </p:sp>
      <p:sp>
        <p:nvSpPr>
          <p:cNvPr id="32" name="Shape 30"/>
          <p:cNvSpPr/>
          <p:nvPr/>
        </p:nvSpPr>
        <p:spPr>
          <a:xfrm>
            <a:off x="2926080" y="3954780"/>
            <a:ext cx="411480" cy="0"/>
          </a:xfrm>
          <a:prstGeom prst="line">
            <a:avLst/>
          </a:prstGeom>
          <a:noFill/>
          <a:ln w="22225">
            <a:solidFill>
              <a:srgbClr val="0E8F87"/>
            </a:solidFill>
            <a:prstDash val="solid"/>
            <a:tailEnd type="triangle"/>
          </a:ln>
        </p:spPr>
      </p:sp>
      <p:sp>
        <p:nvSpPr>
          <p:cNvPr id="33" name="Shape 31"/>
          <p:cNvSpPr/>
          <p:nvPr/>
        </p:nvSpPr>
        <p:spPr>
          <a:xfrm>
            <a:off x="5806440" y="3954780"/>
            <a:ext cx="411480" cy="0"/>
          </a:xfrm>
          <a:prstGeom prst="line">
            <a:avLst/>
          </a:prstGeom>
          <a:noFill/>
          <a:ln w="22225">
            <a:solidFill>
              <a:srgbClr val="0E8F87"/>
            </a:solidFill>
            <a:prstDash val="solid"/>
            <a:tailEnd type="triangle"/>
          </a:ln>
        </p:spPr>
      </p:sp>
      <p:sp>
        <p:nvSpPr>
          <p:cNvPr id="34" name="Text 32"/>
          <p:cNvSpPr txBox="1"/>
          <p:nvPr/>
        </p:nvSpPr>
        <p:spPr>
          <a:xfrm>
            <a:off x="457200" y="4361688"/>
            <a:ext cx="8229600" cy="365760"/>
          </a:xfrm>
          <a:prstGeom prst="rect">
            <a:avLst/>
          </a:prstGeom>
          <a:noFill/>
          <a:ln/>
        </p:spPr>
        <p:txBody>
          <a:bodyPr wrap="square" lIns="0" tIns="0" rIns="0" bIns="0" rtlCol="0" anchor="ctr"/>
          <a:lstStyle/>
          <a:p>
            <a:pPr marL="0" indent="0">
              <a:buNone/>
            </a:pPr>
            <a:r>
              <a:rPr lang="en-US" sz="1000" dirty="0">
                <a:solidFill>
                  <a:srgbClr val="4B5B70"/>
                </a:solidFill>
              </a:rPr>
              <a:t>External inputs: rule configuration → rule engine; declared purpose/retention metadata → metadata mapper; labelled ground truth → evaluation component. Planned design; not implemented. See Data Flow Diagram (slide 8).</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457200" y="128016"/>
            <a:ext cx="8229600" cy="256032"/>
          </a:xfrm>
          <a:prstGeom prst="rect">
            <a:avLst/>
          </a:prstGeom>
          <a:noFill/>
          <a:ln/>
        </p:spPr>
        <p:txBody>
          <a:bodyPr wrap="square" lIns="0" tIns="0" rIns="0" bIns="0" rtlCol="0" anchor="ctr"/>
          <a:lstStyle/>
          <a:p>
            <a:pPr marL="0" indent="0">
              <a:buNone/>
            </a:pPr>
            <a:r>
              <a:rPr lang="en-US" sz="1100" b="1" dirty="0">
                <a:solidFill>
                  <a:srgbClr val="1B3FCC"/>
                </a:solidFill>
              </a:rPr>
              <a:t>AIORI 3</a:t>
            </a:r>
            <a:r>
              <a:rPr lang="en-US" sz="1100" dirty="0">
                <a:solidFill>
                  <a:srgbClr val="4B5B70"/>
                </a:solidFill>
              </a:rPr>
              <a:t>   Data Flow Diagram</a:t>
            </a:r>
            <a:endParaRPr lang="en-US" sz="1100" dirty="0"/>
          </a:p>
        </p:txBody>
      </p:sp>
      <p:sp>
        <p:nvSpPr>
          <p:cNvPr id="4" name="Text 2"/>
          <p:cNvSpPr txBox="1"/>
          <p:nvPr/>
        </p:nvSpPr>
        <p:spPr>
          <a:xfrm>
            <a:off x="457200" y="411480"/>
            <a:ext cx="8229600" cy="502920"/>
          </a:xfrm>
          <a:prstGeom prst="rect">
            <a:avLst/>
          </a:prstGeom>
          <a:noFill/>
          <a:ln/>
        </p:spPr>
        <p:txBody>
          <a:bodyPr wrap="square" lIns="0" tIns="0" rIns="0" bIns="0" rtlCol="0" anchor="ctr"/>
          <a:lstStyle/>
          <a:p>
            <a:pPr marL="0" indent="0">
              <a:buNone/>
            </a:pPr>
            <a:r>
              <a:rPr lang="en-US" sz="2800" b="1" dirty="0">
                <a:solidFill>
                  <a:srgbClr val="1B3FCC"/>
                </a:solidFill>
              </a:rPr>
              <a:t>Data Flow Diagram</a:t>
            </a:r>
            <a:endParaRPr lang="en-US" sz="2800" dirty="0"/>
          </a:p>
        </p:txBody>
      </p:sp>
      <p:sp>
        <p:nvSpPr>
          <p:cNvPr id="5" name="Text 3"/>
          <p:cNvSpPr txBox="1"/>
          <p:nvPr/>
        </p:nvSpPr>
        <p:spPr>
          <a:xfrm>
            <a:off x="457200" y="914400"/>
            <a:ext cx="8229600" cy="320040"/>
          </a:xfrm>
          <a:prstGeom prst="rect">
            <a:avLst/>
          </a:prstGeom>
          <a:noFill/>
          <a:ln/>
        </p:spPr>
        <p:txBody>
          <a:bodyPr wrap="square" lIns="0" tIns="0" rIns="0" bIns="0" rtlCol="0" anchor="ctr"/>
          <a:lstStyle/>
          <a:p>
            <a:pPr marL="0" indent="0">
              <a:buNone/>
            </a:pPr>
            <a:r>
              <a:rPr lang="en-US" sz="1300" dirty="0">
                <a:solidFill>
                  <a:srgbClr val="4B5B70"/>
                </a:solidFill>
              </a:rPr>
              <a:t>Blue input  •  Amber configuration / ground truth  •  Grey in-memory processing  •  Teal output</a:t>
            </a:r>
            <a:endParaRPr lang="en-US" sz="1300" dirty="0"/>
          </a:p>
        </p:txBody>
      </p:sp>
      <p:sp>
        <p:nvSpPr>
          <p:cNvPr id="6" name="Text 4"/>
          <p:cNvSpPr txBox="1"/>
          <p:nvPr/>
        </p:nvSpPr>
        <p:spPr>
          <a:xfrm>
            <a:off x="457200" y="4800600"/>
            <a:ext cx="5486400" cy="228600"/>
          </a:xfrm>
          <a:prstGeom prst="rect">
            <a:avLst/>
          </a:prstGeom>
          <a:noFill/>
          <a:ln/>
        </p:spPr>
        <p:txBody>
          <a:bodyPr wrap="square" lIns="0" tIns="0" rIns="0" bIns="0" rtlCol="0" anchor="ctr"/>
          <a:lstStyle/>
          <a:p>
            <a:pPr marL="0" indent="0">
              <a:buNone/>
            </a:pPr>
            <a:r>
              <a:rPr lang="en-US" sz="1000" dirty="0">
                <a:solidFill>
                  <a:srgbClr val="4B5B70"/>
                </a:solidFill>
              </a:rPr>
              <a:t>Y. Vashishtha  •  A3-PS019-TC539  •  October 14, 2026</a:t>
            </a:r>
            <a:endParaRPr lang="en-US" sz="1000" dirty="0"/>
          </a:p>
        </p:txBody>
      </p:sp>
      <p:sp>
        <p:nvSpPr>
          <p:cNvPr id="7" name="Text 5"/>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en-US" sz="1000" dirty="0">
                <a:solidFill>
                  <a:srgbClr val="4B5B70"/>
                </a:solidFill>
              </a:rPr>
              <a:t>8 / 11</a:t>
            </a:r>
            <a:endParaRPr lang="en-US" sz="1000" dirty="0"/>
          </a:p>
        </p:txBody>
      </p:sp>
      <p:sp>
        <p:nvSpPr>
          <p:cNvPr id="8" name="Shape 6"/>
          <p:cNvSpPr/>
          <p:nvPr/>
        </p:nvSpPr>
        <p:spPr>
          <a:xfrm>
            <a:off x="457200" y="1325880"/>
            <a:ext cx="2194560" cy="438912"/>
          </a:xfrm>
          <a:prstGeom prst="roundRect">
            <a:avLst>
              <a:gd name="adj" fmla="val 12500"/>
            </a:avLst>
          </a:prstGeom>
          <a:solidFill>
            <a:srgbClr val="DCE8F9"/>
          </a:solidFill>
          <a:ln w="12700">
            <a:solidFill>
              <a:srgbClr val="2F6FB5"/>
            </a:solidFill>
            <a:prstDash val="solid"/>
          </a:ln>
        </p:spPr>
      </p:sp>
      <p:sp>
        <p:nvSpPr>
          <p:cNvPr id="9" name="Text 7"/>
          <p:cNvSpPr txBox="1"/>
          <p:nvPr/>
        </p:nvSpPr>
        <p:spPr>
          <a:xfrm>
            <a:off x="502920" y="1325880"/>
            <a:ext cx="2103120" cy="438912"/>
          </a:xfrm>
          <a:prstGeom prst="rect">
            <a:avLst/>
          </a:prstGeom>
          <a:noFill/>
          <a:ln/>
        </p:spPr>
        <p:txBody>
          <a:bodyPr wrap="square" lIns="0" tIns="0" rIns="0" bIns="0" rtlCol="0" anchor="ctr"/>
          <a:lstStyle/>
          <a:p>
            <a:pPr marL="0" indent="0" algn="ctr">
              <a:buNone/>
            </a:pPr>
            <a:r>
              <a:rPr lang="en-US" sz="1150" dirty="0">
                <a:solidFill>
                  <a:srgbClr val="1E2A3B"/>
                </a:solidFill>
              </a:rPr>
              <a:t>Synthetic CSV files</a:t>
            </a:r>
            <a:endParaRPr lang="en-US" sz="1150" dirty="0"/>
          </a:p>
        </p:txBody>
      </p:sp>
      <p:sp>
        <p:nvSpPr>
          <p:cNvPr id="10" name="Shape 8"/>
          <p:cNvSpPr/>
          <p:nvPr/>
        </p:nvSpPr>
        <p:spPr>
          <a:xfrm>
            <a:off x="2651760" y="1545336"/>
            <a:ext cx="365760" cy="0"/>
          </a:xfrm>
          <a:prstGeom prst="line">
            <a:avLst/>
          </a:prstGeom>
          <a:noFill/>
          <a:ln w="22225">
            <a:solidFill>
              <a:srgbClr val="0E8F87"/>
            </a:solidFill>
            <a:prstDash val="solid"/>
            <a:tailEnd type="triangle"/>
          </a:ln>
        </p:spPr>
      </p:sp>
      <p:sp>
        <p:nvSpPr>
          <p:cNvPr id="11" name="Shape 9"/>
          <p:cNvSpPr/>
          <p:nvPr/>
        </p:nvSpPr>
        <p:spPr>
          <a:xfrm>
            <a:off x="457200" y="1874520"/>
            <a:ext cx="2194560" cy="438912"/>
          </a:xfrm>
          <a:prstGeom prst="roundRect">
            <a:avLst>
              <a:gd name="adj" fmla="val 12500"/>
            </a:avLst>
          </a:prstGeom>
          <a:solidFill>
            <a:srgbClr val="DCE8F9"/>
          </a:solidFill>
          <a:ln w="12700">
            <a:solidFill>
              <a:srgbClr val="2F6FB5"/>
            </a:solidFill>
            <a:prstDash val="solid"/>
          </a:ln>
        </p:spPr>
      </p:sp>
      <p:sp>
        <p:nvSpPr>
          <p:cNvPr id="12" name="Text 10"/>
          <p:cNvSpPr txBox="1"/>
          <p:nvPr/>
        </p:nvSpPr>
        <p:spPr>
          <a:xfrm>
            <a:off x="502920" y="1874520"/>
            <a:ext cx="2103120" cy="438912"/>
          </a:xfrm>
          <a:prstGeom prst="rect">
            <a:avLst/>
          </a:prstGeom>
          <a:noFill/>
          <a:ln/>
        </p:spPr>
        <p:txBody>
          <a:bodyPr wrap="square" lIns="0" tIns="0" rIns="0" bIns="0" rtlCol="0" anchor="ctr"/>
          <a:lstStyle/>
          <a:p>
            <a:pPr marL="0" indent="0" algn="ctr">
              <a:buNone/>
            </a:pPr>
            <a:r>
              <a:rPr lang="en-US" sz="1150" dirty="0">
                <a:solidFill>
                  <a:srgbClr val="1E2A3B"/>
                </a:solidFill>
              </a:rPr>
              <a:t>SQLite database</a:t>
            </a:r>
            <a:endParaRPr lang="en-US" sz="1150" dirty="0"/>
          </a:p>
        </p:txBody>
      </p:sp>
      <p:sp>
        <p:nvSpPr>
          <p:cNvPr id="13" name="Shape 11"/>
          <p:cNvSpPr/>
          <p:nvPr/>
        </p:nvSpPr>
        <p:spPr>
          <a:xfrm>
            <a:off x="2651760" y="2093976"/>
            <a:ext cx="365760" cy="0"/>
          </a:xfrm>
          <a:prstGeom prst="line">
            <a:avLst/>
          </a:prstGeom>
          <a:noFill/>
          <a:ln w="22225">
            <a:solidFill>
              <a:srgbClr val="0E8F87"/>
            </a:solidFill>
            <a:prstDash val="solid"/>
            <a:tailEnd type="triangle"/>
          </a:ln>
        </p:spPr>
      </p:sp>
      <p:sp>
        <p:nvSpPr>
          <p:cNvPr id="14" name="Shape 12"/>
          <p:cNvSpPr/>
          <p:nvPr/>
        </p:nvSpPr>
        <p:spPr>
          <a:xfrm>
            <a:off x="457200" y="2423160"/>
            <a:ext cx="2194560" cy="438912"/>
          </a:xfrm>
          <a:prstGeom prst="roundRect">
            <a:avLst>
              <a:gd name="adj" fmla="val 12500"/>
            </a:avLst>
          </a:prstGeom>
          <a:solidFill>
            <a:srgbClr val="DCE8F9"/>
          </a:solidFill>
          <a:ln w="12700">
            <a:solidFill>
              <a:srgbClr val="2F6FB5"/>
            </a:solidFill>
            <a:prstDash val="solid"/>
          </a:ln>
        </p:spPr>
      </p:sp>
      <p:sp>
        <p:nvSpPr>
          <p:cNvPr id="15" name="Text 13"/>
          <p:cNvSpPr txBox="1"/>
          <p:nvPr/>
        </p:nvSpPr>
        <p:spPr>
          <a:xfrm>
            <a:off x="502920" y="2423160"/>
            <a:ext cx="2103120" cy="438912"/>
          </a:xfrm>
          <a:prstGeom prst="rect">
            <a:avLst/>
          </a:prstGeom>
          <a:noFill/>
          <a:ln/>
        </p:spPr>
        <p:txBody>
          <a:bodyPr wrap="square" lIns="0" tIns="0" rIns="0" bIns="0" rtlCol="0" anchor="ctr"/>
          <a:lstStyle/>
          <a:p>
            <a:pPr marL="0" indent="0" algn="ctr">
              <a:buNone/>
            </a:pPr>
            <a:r>
              <a:rPr lang="en-US" sz="1150" dirty="0">
                <a:solidFill>
                  <a:srgbClr val="1E2A3B"/>
                </a:solidFill>
              </a:rPr>
              <a:t>Purpose &amp; retention metadata</a:t>
            </a:r>
            <a:endParaRPr lang="en-US" sz="1150" dirty="0"/>
          </a:p>
        </p:txBody>
      </p:sp>
      <p:sp>
        <p:nvSpPr>
          <p:cNvPr id="16" name="Shape 14"/>
          <p:cNvSpPr/>
          <p:nvPr/>
        </p:nvSpPr>
        <p:spPr>
          <a:xfrm>
            <a:off x="2651760" y="2642616"/>
            <a:ext cx="365760" cy="0"/>
          </a:xfrm>
          <a:prstGeom prst="line">
            <a:avLst/>
          </a:prstGeom>
          <a:noFill/>
          <a:ln w="22225">
            <a:solidFill>
              <a:srgbClr val="0E8F87"/>
            </a:solidFill>
            <a:prstDash val="solid"/>
            <a:tailEnd type="triangle"/>
          </a:ln>
        </p:spPr>
      </p:sp>
      <p:sp>
        <p:nvSpPr>
          <p:cNvPr id="17" name="Shape 15"/>
          <p:cNvSpPr/>
          <p:nvPr/>
        </p:nvSpPr>
        <p:spPr>
          <a:xfrm>
            <a:off x="457200" y="2971800"/>
            <a:ext cx="2194560" cy="438912"/>
          </a:xfrm>
          <a:prstGeom prst="roundRect">
            <a:avLst>
              <a:gd name="adj" fmla="val 12500"/>
            </a:avLst>
          </a:prstGeom>
          <a:solidFill>
            <a:srgbClr val="FFF1CC"/>
          </a:solidFill>
          <a:ln w="12700">
            <a:solidFill>
              <a:srgbClr val="C98A12"/>
            </a:solidFill>
            <a:prstDash val="solid"/>
          </a:ln>
        </p:spPr>
      </p:sp>
      <p:sp>
        <p:nvSpPr>
          <p:cNvPr id="18" name="Text 16"/>
          <p:cNvSpPr txBox="1"/>
          <p:nvPr/>
        </p:nvSpPr>
        <p:spPr>
          <a:xfrm>
            <a:off x="502920" y="2971800"/>
            <a:ext cx="2103120" cy="438912"/>
          </a:xfrm>
          <a:prstGeom prst="rect">
            <a:avLst/>
          </a:prstGeom>
          <a:noFill/>
          <a:ln/>
        </p:spPr>
        <p:txBody>
          <a:bodyPr wrap="square" lIns="0" tIns="0" rIns="0" bIns="0" rtlCol="0" anchor="ctr"/>
          <a:lstStyle/>
          <a:p>
            <a:pPr marL="0" indent="0" algn="ctr">
              <a:buNone/>
            </a:pPr>
            <a:r>
              <a:rPr lang="en-US" sz="1150" dirty="0">
                <a:solidFill>
                  <a:srgbClr val="1E2A3B"/>
                </a:solidFill>
              </a:rPr>
              <a:t>Rule configuration</a:t>
            </a:r>
            <a:endParaRPr lang="en-US" sz="1150" dirty="0"/>
          </a:p>
        </p:txBody>
      </p:sp>
      <p:sp>
        <p:nvSpPr>
          <p:cNvPr id="19" name="Shape 17"/>
          <p:cNvSpPr/>
          <p:nvPr/>
        </p:nvSpPr>
        <p:spPr>
          <a:xfrm>
            <a:off x="2651760" y="3191256"/>
            <a:ext cx="365760" cy="0"/>
          </a:xfrm>
          <a:prstGeom prst="line">
            <a:avLst/>
          </a:prstGeom>
          <a:noFill/>
          <a:ln w="22225">
            <a:solidFill>
              <a:srgbClr val="0E8F87"/>
            </a:solidFill>
            <a:prstDash val="solid"/>
            <a:tailEnd type="triangle"/>
          </a:ln>
        </p:spPr>
      </p:sp>
      <p:sp>
        <p:nvSpPr>
          <p:cNvPr id="20" name="Shape 18"/>
          <p:cNvSpPr/>
          <p:nvPr/>
        </p:nvSpPr>
        <p:spPr>
          <a:xfrm>
            <a:off x="457200" y="3520440"/>
            <a:ext cx="2194560" cy="438912"/>
          </a:xfrm>
          <a:prstGeom prst="roundRect">
            <a:avLst>
              <a:gd name="adj" fmla="val 12500"/>
            </a:avLst>
          </a:prstGeom>
          <a:solidFill>
            <a:srgbClr val="FFF1CC"/>
          </a:solidFill>
          <a:ln w="12700">
            <a:solidFill>
              <a:srgbClr val="C98A12"/>
            </a:solidFill>
            <a:prstDash val="solid"/>
          </a:ln>
        </p:spPr>
      </p:sp>
      <p:sp>
        <p:nvSpPr>
          <p:cNvPr id="21" name="Text 19"/>
          <p:cNvSpPr txBox="1"/>
          <p:nvPr/>
        </p:nvSpPr>
        <p:spPr>
          <a:xfrm>
            <a:off x="502920" y="3520440"/>
            <a:ext cx="2103120" cy="438912"/>
          </a:xfrm>
          <a:prstGeom prst="rect">
            <a:avLst/>
          </a:prstGeom>
          <a:noFill/>
          <a:ln/>
        </p:spPr>
        <p:txBody>
          <a:bodyPr wrap="square" lIns="0" tIns="0" rIns="0" bIns="0" rtlCol="0" anchor="ctr"/>
          <a:lstStyle/>
          <a:p>
            <a:pPr marL="0" indent="0" algn="ctr">
              <a:buNone/>
            </a:pPr>
            <a:r>
              <a:rPr lang="en-US" sz="1150" dirty="0">
                <a:solidFill>
                  <a:srgbClr val="1E2A3B"/>
                </a:solidFill>
              </a:rPr>
              <a:t>Labelled ground truth</a:t>
            </a:r>
            <a:endParaRPr lang="en-US" sz="1150" dirty="0"/>
          </a:p>
        </p:txBody>
      </p:sp>
      <p:sp>
        <p:nvSpPr>
          <p:cNvPr id="22" name="Shape 20"/>
          <p:cNvSpPr/>
          <p:nvPr/>
        </p:nvSpPr>
        <p:spPr>
          <a:xfrm>
            <a:off x="2651760" y="3739896"/>
            <a:ext cx="365760" cy="0"/>
          </a:xfrm>
          <a:prstGeom prst="line">
            <a:avLst/>
          </a:prstGeom>
          <a:noFill/>
          <a:ln w="22225">
            <a:solidFill>
              <a:srgbClr val="0E8F87"/>
            </a:solidFill>
            <a:prstDash val="solid"/>
            <a:tailEnd type="triangle"/>
          </a:ln>
        </p:spPr>
      </p:sp>
      <p:sp>
        <p:nvSpPr>
          <p:cNvPr id="23" name="Shape 21"/>
          <p:cNvSpPr/>
          <p:nvPr/>
        </p:nvSpPr>
        <p:spPr>
          <a:xfrm>
            <a:off x="3017520" y="1280160"/>
            <a:ext cx="3108960" cy="2743200"/>
          </a:xfrm>
          <a:prstGeom prst="roundRect">
            <a:avLst>
              <a:gd name="adj" fmla="val 2000"/>
            </a:avLst>
          </a:prstGeom>
          <a:solidFill>
            <a:srgbClr val="F8FAFD"/>
          </a:solidFill>
          <a:ln w="12700">
            <a:solidFill>
              <a:srgbClr val="C5D3E6"/>
            </a:solidFill>
            <a:prstDash val="solid"/>
          </a:ln>
        </p:spPr>
      </p:sp>
      <p:sp>
        <p:nvSpPr>
          <p:cNvPr id="24" name="Text 22"/>
          <p:cNvSpPr txBox="1"/>
          <p:nvPr/>
        </p:nvSpPr>
        <p:spPr>
          <a:xfrm>
            <a:off x="3063240" y="1307592"/>
            <a:ext cx="3017520" cy="256032"/>
          </a:xfrm>
          <a:prstGeom prst="rect">
            <a:avLst/>
          </a:prstGeom>
          <a:noFill/>
          <a:ln/>
        </p:spPr>
        <p:txBody>
          <a:bodyPr wrap="square" lIns="0" tIns="0" rIns="0" bIns="0" rtlCol="0" anchor="ctr"/>
          <a:lstStyle/>
          <a:p>
            <a:pPr marL="0" indent="0" algn="ctr">
              <a:buNone/>
            </a:pPr>
            <a:r>
              <a:rPr lang="en-US" sz="1100" b="1" dirty="0">
                <a:solidFill>
                  <a:srgbClr val="4B5B70"/>
                </a:solidFill>
              </a:rPr>
              <a:t>Processing (in memory where feasible)</a:t>
            </a:r>
            <a:endParaRPr lang="en-US" sz="1100" dirty="0"/>
          </a:p>
        </p:txBody>
      </p:sp>
      <p:sp>
        <p:nvSpPr>
          <p:cNvPr id="25" name="Shape 23"/>
          <p:cNvSpPr/>
          <p:nvPr/>
        </p:nvSpPr>
        <p:spPr>
          <a:xfrm>
            <a:off x="3383280" y="1600200"/>
            <a:ext cx="2377440" cy="310896"/>
          </a:xfrm>
          <a:prstGeom prst="roundRect">
            <a:avLst>
              <a:gd name="adj" fmla="val 17647"/>
            </a:avLst>
          </a:prstGeom>
          <a:solidFill>
            <a:srgbClr val="F3F7FC"/>
          </a:solidFill>
          <a:ln w="12700">
            <a:solidFill>
              <a:srgbClr val="C5D3E6"/>
            </a:solidFill>
            <a:prstDash val="solid"/>
          </a:ln>
        </p:spPr>
      </p:sp>
      <p:sp>
        <p:nvSpPr>
          <p:cNvPr id="26" name="Text 24"/>
          <p:cNvSpPr txBox="1"/>
          <p:nvPr/>
        </p:nvSpPr>
        <p:spPr>
          <a:xfrm>
            <a:off x="3383280" y="1600200"/>
            <a:ext cx="2377440" cy="310896"/>
          </a:xfrm>
          <a:prstGeom prst="rect">
            <a:avLst/>
          </a:prstGeom>
          <a:noFill/>
          <a:ln/>
        </p:spPr>
        <p:txBody>
          <a:bodyPr wrap="square" lIns="0" tIns="0" rIns="0" bIns="0" rtlCol="0" anchor="ctr"/>
          <a:lstStyle/>
          <a:p>
            <a:pPr marL="0" indent="0" algn="ctr">
              <a:buNone/>
            </a:pPr>
            <a:r>
              <a:rPr lang="en-US" sz="1100" dirty="0">
                <a:solidFill>
                  <a:srgbClr val="1E2A3B"/>
                </a:solidFill>
              </a:rPr>
              <a:t>Ingest</a:t>
            </a:r>
            <a:endParaRPr lang="en-US" sz="1100" dirty="0"/>
          </a:p>
        </p:txBody>
      </p:sp>
      <p:sp>
        <p:nvSpPr>
          <p:cNvPr id="27" name="Shape 25"/>
          <p:cNvSpPr/>
          <p:nvPr/>
        </p:nvSpPr>
        <p:spPr>
          <a:xfrm>
            <a:off x="3383280" y="1993392"/>
            <a:ext cx="2377440" cy="310896"/>
          </a:xfrm>
          <a:prstGeom prst="roundRect">
            <a:avLst>
              <a:gd name="adj" fmla="val 17647"/>
            </a:avLst>
          </a:prstGeom>
          <a:solidFill>
            <a:srgbClr val="F3F7FC"/>
          </a:solidFill>
          <a:ln w="12700">
            <a:solidFill>
              <a:srgbClr val="C5D3E6"/>
            </a:solidFill>
            <a:prstDash val="solid"/>
          </a:ln>
        </p:spPr>
      </p:sp>
      <p:sp>
        <p:nvSpPr>
          <p:cNvPr id="28" name="Text 26"/>
          <p:cNvSpPr txBox="1"/>
          <p:nvPr/>
        </p:nvSpPr>
        <p:spPr>
          <a:xfrm>
            <a:off x="3383280" y="1993392"/>
            <a:ext cx="2377440" cy="310896"/>
          </a:xfrm>
          <a:prstGeom prst="rect">
            <a:avLst/>
          </a:prstGeom>
          <a:noFill/>
          <a:ln/>
        </p:spPr>
        <p:txBody>
          <a:bodyPr wrap="square" lIns="0" tIns="0" rIns="0" bIns="0" rtlCol="0" anchor="ctr"/>
          <a:lstStyle/>
          <a:p>
            <a:pPr marL="0" indent="0" algn="ctr">
              <a:buNone/>
            </a:pPr>
            <a:r>
              <a:rPr lang="en-US" sz="1100" dirty="0">
                <a:solidFill>
                  <a:srgbClr val="1E2A3B"/>
                </a:solidFill>
              </a:rPr>
              <a:t>Detect with rules</a:t>
            </a:r>
            <a:endParaRPr lang="en-US" sz="1100" dirty="0"/>
          </a:p>
        </p:txBody>
      </p:sp>
      <p:sp>
        <p:nvSpPr>
          <p:cNvPr id="29" name="Shape 27"/>
          <p:cNvSpPr/>
          <p:nvPr/>
        </p:nvSpPr>
        <p:spPr>
          <a:xfrm>
            <a:off x="3383280" y="2386584"/>
            <a:ext cx="2377440" cy="310896"/>
          </a:xfrm>
          <a:prstGeom prst="roundRect">
            <a:avLst>
              <a:gd name="adj" fmla="val 17647"/>
            </a:avLst>
          </a:prstGeom>
          <a:solidFill>
            <a:srgbClr val="F3F7FC"/>
          </a:solidFill>
          <a:ln w="12700">
            <a:solidFill>
              <a:srgbClr val="C5D3E6"/>
            </a:solidFill>
            <a:prstDash val="solid"/>
          </a:ln>
        </p:spPr>
      </p:sp>
      <p:sp>
        <p:nvSpPr>
          <p:cNvPr id="30" name="Text 28"/>
          <p:cNvSpPr txBox="1"/>
          <p:nvPr/>
        </p:nvSpPr>
        <p:spPr>
          <a:xfrm>
            <a:off x="3383280" y="2386584"/>
            <a:ext cx="2377440" cy="310896"/>
          </a:xfrm>
          <a:prstGeom prst="rect">
            <a:avLst/>
          </a:prstGeom>
          <a:noFill/>
          <a:ln/>
        </p:spPr>
        <p:txBody>
          <a:bodyPr wrap="square" lIns="0" tIns="0" rIns="0" bIns="0" rtlCol="0" anchor="ctr"/>
          <a:lstStyle/>
          <a:p>
            <a:pPr marL="0" indent="0" algn="ctr">
              <a:buNone/>
            </a:pPr>
            <a:r>
              <a:rPr lang="en-US" sz="1100" dirty="0">
                <a:solidFill>
                  <a:srgbClr val="1E2A3B"/>
                </a:solidFill>
              </a:rPr>
              <a:t>Build evidence records</a:t>
            </a:r>
            <a:endParaRPr lang="en-US" sz="1100" dirty="0"/>
          </a:p>
        </p:txBody>
      </p:sp>
      <p:sp>
        <p:nvSpPr>
          <p:cNvPr id="31" name="Shape 29"/>
          <p:cNvSpPr/>
          <p:nvPr/>
        </p:nvSpPr>
        <p:spPr>
          <a:xfrm>
            <a:off x="3383280" y="2779776"/>
            <a:ext cx="2377440" cy="310896"/>
          </a:xfrm>
          <a:prstGeom prst="roundRect">
            <a:avLst>
              <a:gd name="adj" fmla="val 17647"/>
            </a:avLst>
          </a:prstGeom>
          <a:solidFill>
            <a:srgbClr val="F3F7FC"/>
          </a:solidFill>
          <a:ln w="12700">
            <a:solidFill>
              <a:srgbClr val="C5D3E6"/>
            </a:solidFill>
            <a:prstDash val="solid"/>
          </a:ln>
        </p:spPr>
      </p:sp>
      <p:sp>
        <p:nvSpPr>
          <p:cNvPr id="32" name="Text 30"/>
          <p:cNvSpPr txBox="1"/>
          <p:nvPr/>
        </p:nvSpPr>
        <p:spPr>
          <a:xfrm>
            <a:off x="3383280" y="2779776"/>
            <a:ext cx="2377440" cy="310896"/>
          </a:xfrm>
          <a:prstGeom prst="rect">
            <a:avLst/>
          </a:prstGeom>
          <a:noFill/>
          <a:ln/>
        </p:spPr>
        <p:txBody>
          <a:bodyPr wrap="square" lIns="0" tIns="0" rIns="0" bIns="0" rtlCol="0" anchor="ctr"/>
          <a:lstStyle/>
          <a:p>
            <a:pPr marL="0" indent="0" algn="ctr">
              <a:buNone/>
            </a:pPr>
            <a:r>
              <a:rPr lang="en-US" sz="1100" dirty="0">
                <a:solidFill>
                  <a:srgbClr val="1E2A3B"/>
                </a:solidFill>
              </a:rPr>
              <a:t>Map to metadata</a:t>
            </a:r>
            <a:endParaRPr lang="en-US" sz="1100" dirty="0"/>
          </a:p>
        </p:txBody>
      </p:sp>
      <p:sp>
        <p:nvSpPr>
          <p:cNvPr id="33" name="Shape 31"/>
          <p:cNvSpPr/>
          <p:nvPr/>
        </p:nvSpPr>
        <p:spPr>
          <a:xfrm>
            <a:off x="3383280" y="3172968"/>
            <a:ext cx="2377440" cy="310896"/>
          </a:xfrm>
          <a:prstGeom prst="roundRect">
            <a:avLst>
              <a:gd name="adj" fmla="val 17647"/>
            </a:avLst>
          </a:prstGeom>
          <a:solidFill>
            <a:srgbClr val="F3F7FC"/>
          </a:solidFill>
          <a:ln w="12700">
            <a:solidFill>
              <a:srgbClr val="C5D3E6"/>
            </a:solidFill>
            <a:prstDash val="solid"/>
          </a:ln>
        </p:spPr>
      </p:sp>
      <p:sp>
        <p:nvSpPr>
          <p:cNvPr id="34" name="Text 32"/>
          <p:cNvSpPr txBox="1"/>
          <p:nvPr/>
        </p:nvSpPr>
        <p:spPr>
          <a:xfrm>
            <a:off x="3383280" y="3172968"/>
            <a:ext cx="2377440" cy="310896"/>
          </a:xfrm>
          <a:prstGeom prst="rect">
            <a:avLst/>
          </a:prstGeom>
          <a:noFill/>
          <a:ln/>
        </p:spPr>
        <p:txBody>
          <a:bodyPr wrap="square" lIns="0" tIns="0" rIns="0" bIns="0" rtlCol="0" anchor="ctr"/>
          <a:lstStyle/>
          <a:p>
            <a:pPr marL="0" indent="0" algn="ctr">
              <a:buNone/>
            </a:pPr>
            <a:r>
              <a:rPr lang="en-US" sz="1100" dirty="0">
                <a:solidFill>
                  <a:srgbClr val="1E2A3B"/>
                </a:solidFill>
              </a:rPr>
              <a:t>Analyze evidence gaps</a:t>
            </a:r>
            <a:endParaRPr lang="en-US" sz="1100" dirty="0"/>
          </a:p>
        </p:txBody>
      </p:sp>
      <p:sp>
        <p:nvSpPr>
          <p:cNvPr id="35" name="Shape 33"/>
          <p:cNvSpPr/>
          <p:nvPr/>
        </p:nvSpPr>
        <p:spPr>
          <a:xfrm>
            <a:off x="3383280" y="3566160"/>
            <a:ext cx="2377440" cy="310896"/>
          </a:xfrm>
          <a:prstGeom prst="roundRect">
            <a:avLst>
              <a:gd name="adj" fmla="val 17647"/>
            </a:avLst>
          </a:prstGeom>
          <a:solidFill>
            <a:srgbClr val="F3F7FC"/>
          </a:solidFill>
          <a:ln w="12700">
            <a:solidFill>
              <a:srgbClr val="C5D3E6"/>
            </a:solidFill>
            <a:prstDash val="solid"/>
          </a:ln>
        </p:spPr>
      </p:sp>
      <p:sp>
        <p:nvSpPr>
          <p:cNvPr id="36" name="Text 34"/>
          <p:cNvSpPr txBox="1"/>
          <p:nvPr/>
        </p:nvSpPr>
        <p:spPr>
          <a:xfrm>
            <a:off x="3383280" y="3566160"/>
            <a:ext cx="2377440" cy="310896"/>
          </a:xfrm>
          <a:prstGeom prst="rect">
            <a:avLst/>
          </a:prstGeom>
          <a:noFill/>
          <a:ln/>
        </p:spPr>
        <p:txBody>
          <a:bodyPr wrap="square" lIns="0" tIns="0" rIns="0" bIns="0" rtlCol="0" anchor="ctr"/>
          <a:lstStyle/>
          <a:p>
            <a:pPr marL="0" indent="0" algn="ctr">
              <a:buNone/>
            </a:pPr>
            <a:r>
              <a:rPr lang="en-US" sz="1100" dirty="0">
                <a:solidFill>
                  <a:srgbClr val="1E2A3B"/>
                </a:solidFill>
              </a:rPr>
              <a:t>Evaluate vs. ground truth</a:t>
            </a:r>
            <a:endParaRPr lang="en-US" sz="1100" dirty="0"/>
          </a:p>
        </p:txBody>
      </p:sp>
      <p:sp>
        <p:nvSpPr>
          <p:cNvPr id="37" name="Shape 35"/>
          <p:cNvSpPr/>
          <p:nvPr/>
        </p:nvSpPr>
        <p:spPr>
          <a:xfrm>
            <a:off x="6492240" y="1371600"/>
            <a:ext cx="2194560" cy="502920"/>
          </a:xfrm>
          <a:prstGeom prst="roundRect">
            <a:avLst>
              <a:gd name="adj" fmla="val 10909"/>
            </a:avLst>
          </a:prstGeom>
          <a:solidFill>
            <a:srgbClr val="D6F3EF"/>
          </a:solidFill>
          <a:ln w="12700">
            <a:solidFill>
              <a:srgbClr val="0E8F87"/>
            </a:solidFill>
            <a:prstDash val="solid"/>
          </a:ln>
        </p:spPr>
      </p:sp>
      <p:sp>
        <p:nvSpPr>
          <p:cNvPr id="38" name="Text 36"/>
          <p:cNvSpPr txBox="1"/>
          <p:nvPr/>
        </p:nvSpPr>
        <p:spPr>
          <a:xfrm>
            <a:off x="6537960" y="1371600"/>
            <a:ext cx="2103120" cy="502920"/>
          </a:xfrm>
          <a:prstGeom prst="rect">
            <a:avLst/>
          </a:prstGeom>
          <a:noFill/>
          <a:ln/>
        </p:spPr>
        <p:txBody>
          <a:bodyPr wrap="square" lIns="0" tIns="0" rIns="0" bIns="0" rtlCol="0" anchor="ctr"/>
          <a:lstStyle/>
          <a:p>
            <a:pPr marL="0" indent="0" algn="ctr">
              <a:buNone/>
            </a:pPr>
            <a:r>
              <a:rPr lang="en-US" sz="1200" dirty="0">
                <a:solidFill>
                  <a:srgbClr val="1E2A3B"/>
                </a:solidFill>
              </a:rPr>
              <a:t>Structured inventory</a:t>
            </a:r>
            <a:endParaRPr lang="en-US" sz="1200" dirty="0"/>
          </a:p>
        </p:txBody>
      </p:sp>
      <p:sp>
        <p:nvSpPr>
          <p:cNvPr id="39" name="Shape 37"/>
          <p:cNvSpPr/>
          <p:nvPr/>
        </p:nvSpPr>
        <p:spPr>
          <a:xfrm>
            <a:off x="6126480" y="1623060"/>
            <a:ext cx="365760" cy="0"/>
          </a:xfrm>
          <a:prstGeom prst="line">
            <a:avLst/>
          </a:prstGeom>
          <a:noFill/>
          <a:ln w="22225">
            <a:solidFill>
              <a:srgbClr val="0E8F87"/>
            </a:solidFill>
            <a:prstDash val="solid"/>
            <a:tailEnd type="triangle"/>
          </a:ln>
        </p:spPr>
      </p:sp>
      <p:sp>
        <p:nvSpPr>
          <p:cNvPr id="40" name="Shape 38"/>
          <p:cNvSpPr/>
          <p:nvPr/>
        </p:nvSpPr>
        <p:spPr>
          <a:xfrm>
            <a:off x="6492240" y="2029968"/>
            <a:ext cx="2194560" cy="502920"/>
          </a:xfrm>
          <a:prstGeom prst="roundRect">
            <a:avLst>
              <a:gd name="adj" fmla="val 10909"/>
            </a:avLst>
          </a:prstGeom>
          <a:solidFill>
            <a:srgbClr val="D6F3EF"/>
          </a:solidFill>
          <a:ln w="12700">
            <a:solidFill>
              <a:srgbClr val="0E8F87"/>
            </a:solidFill>
            <a:prstDash val="solid"/>
          </a:ln>
        </p:spPr>
      </p:sp>
      <p:sp>
        <p:nvSpPr>
          <p:cNvPr id="41" name="Text 39"/>
          <p:cNvSpPr txBox="1"/>
          <p:nvPr/>
        </p:nvSpPr>
        <p:spPr>
          <a:xfrm>
            <a:off x="6537960" y="2029968"/>
            <a:ext cx="2103120" cy="502920"/>
          </a:xfrm>
          <a:prstGeom prst="rect">
            <a:avLst/>
          </a:prstGeom>
          <a:noFill/>
          <a:ln/>
        </p:spPr>
        <p:txBody>
          <a:bodyPr wrap="square" lIns="0" tIns="0" rIns="0" bIns="0" rtlCol="0" anchor="ctr"/>
          <a:lstStyle/>
          <a:p>
            <a:pPr marL="0" indent="0" algn="ctr">
              <a:buNone/>
            </a:pPr>
            <a:r>
              <a:rPr lang="en-US" sz="1200" dirty="0">
                <a:solidFill>
                  <a:srgbClr val="1E2A3B"/>
                </a:solidFill>
              </a:rPr>
              <a:t>Evidence-gap report</a:t>
            </a:r>
            <a:endParaRPr lang="en-US" sz="1200" dirty="0"/>
          </a:p>
        </p:txBody>
      </p:sp>
      <p:sp>
        <p:nvSpPr>
          <p:cNvPr id="42" name="Shape 40"/>
          <p:cNvSpPr/>
          <p:nvPr/>
        </p:nvSpPr>
        <p:spPr>
          <a:xfrm>
            <a:off x="6126480" y="2281428"/>
            <a:ext cx="365760" cy="0"/>
          </a:xfrm>
          <a:prstGeom prst="line">
            <a:avLst/>
          </a:prstGeom>
          <a:noFill/>
          <a:ln w="22225">
            <a:solidFill>
              <a:srgbClr val="0E8F87"/>
            </a:solidFill>
            <a:prstDash val="solid"/>
            <a:tailEnd type="triangle"/>
          </a:ln>
        </p:spPr>
      </p:sp>
      <p:sp>
        <p:nvSpPr>
          <p:cNvPr id="43" name="Shape 41"/>
          <p:cNvSpPr/>
          <p:nvPr/>
        </p:nvSpPr>
        <p:spPr>
          <a:xfrm>
            <a:off x="6492240" y="2688336"/>
            <a:ext cx="2194560" cy="502920"/>
          </a:xfrm>
          <a:prstGeom prst="roundRect">
            <a:avLst>
              <a:gd name="adj" fmla="val 10909"/>
            </a:avLst>
          </a:prstGeom>
          <a:solidFill>
            <a:srgbClr val="D6F3EF"/>
          </a:solidFill>
          <a:ln w="12700">
            <a:solidFill>
              <a:srgbClr val="0E8F87"/>
            </a:solidFill>
            <a:prstDash val="solid"/>
          </a:ln>
        </p:spPr>
      </p:sp>
      <p:sp>
        <p:nvSpPr>
          <p:cNvPr id="44" name="Text 42"/>
          <p:cNvSpPr txBox="1"/>
          <p:nvPr/>
        </p:nvSpPr>
        <p:spPr>
          <a:xfrm>
            <a:off x="6537960" y="2688336"/>
            <a:ext cx="2103120" cy="502920"/>
          </a:xfrm>
          <a:prstGeom prst="rect">
            <a:avLst/>
          </a:prstGeom>
          <a:noFill/>
          <a:ln/>
        </p:spPr>
        <p:txBody>
          <a:bodyPr wrap="square" lIns="0" tIns="0" rIns="0" bIns="0" rtlCol="0" anchor="ctr"/>
          <a:lstStyle/>
          <a:p>
            <a:pPr marL="0" indent="0" algn="ctr">
              <a:buNone/>
            </a:pPr>
            <a:r>
              <a:rPr lang="en-US" sz="1200" dirty="0">
                <a:solidFill>
                  <a:srgbClr val="1E2A3B"/>
                </a:solidFill>
              </a:rPr>
              <a:t>Evaluation results</a:t>
            </a:r>
            <a:endParaRPr lang="en-US" sz="1200" dirty="0"/>
          </a:p>
        </p:txBody>
      </p:sp>
      <p:sp>
        <p:nvSpPr>
          <p:cNvPr id="45" name="Shape 43"/>
          <p:cNvSpPr/>
          <p:nvPr/>
        </p:nvSpPr>
        <p:spPr>
          <a:xfrm>
            <a:off x="6126480" y="2939796"/>
            <a:ext cx="365760" cy="0"/>
          </a:xfrm>
          <a:prstGeom prst="line">
            <a:avLst/>
          </a:prstGeom>
          <a:noFill/>
          <a:ln w="22225">
            <a:solidFill>
              <a:srgbClr val="0E8F87"/>
            </a:solidFill>
            <a:prstDash val="solid"/>
            <a:tailEnd type="triangle"/>
          </a:ln>
        </p:spPr>
      </p:sp>
      <p:sp>
        <p:nvSpPr>
          <p:cNvPr id="46" name="Shape 44"/>
          <p:cNvSpPr/>
          <p:nvPr/>
        </p:nvSpPr>
        <p:spPr>
          <a:xfrm>
            <a:off x="6492240" y="3346704"/>
            <a:ext cx="2194560" cy="502920"/>
          </a:xfrm>
          <a:prstGeom prst="roundRect">
            <a:avLst>
              <a:gd name="adj" fmla="val 10909"/>
            </a:avLst>
          </a:prstGeom>
          <a:solidFill>
            <a:srgbClr val="D6F3EF"/>
          </a:solidFill>
          <a:ln w="12700">
            <a:solidFill>
              <a:srgbClr val="0E8F87"/>
            </a:solidFill>
            <a:prstDash val="solid"/>
          </a:ln>
        </p:spPr>
      </p:sp>
      <p:sp>
        <p:nvSpPr>
          <p:cNvPr id="47" name="Text 45"/>
          <p:cNvSpPr txBox="1"/>
          <p:nvPr/>
        </p:nvSpPr>
        <p:spPr>
          <a:xfrm>
            <a:off x="6537960" y="3346704"/>
            <a:ext cx="2103120" cy="502920"/>
          </a:xfrm>
          <a:prstGeom prst="rect">
            <a:avLst/>
          </a:prstGeom>
          <a:noFill/>
          <a:ln/>
        </p:spPr>
        <p:txBody>
          <a:bodyPr wrap="square" lIns="0" tIns="0" rIns="0" bIns="0" rtlCol="0" anchor="ctr"/>
          <a:lstStyle/>
          <a:p>
            <a:pPr marL="0" indent="0" algn="ctr">
              <a:buNone/>
            </a:pPr>
            <a:r>
              <a:rPr lang="en-US" sz="1200" dirty="0">
                <a:solidFill>
                  <a:srgbClr val="1E2A3B"/>
                </a:solidFill>
              </a:rPr>
              <a:t>Human-review records</a:t>
            </a:r>
            <a:endParaRPr lang="en-US" sz="1200" dirty="0"/>
          </a:p>
        </p:txBody>
      </p:sp>
      <p:sp>
        <p:nvSpPr>
          <p:cNvPr id="48" name="Shape 46"/>
          <p:cNvSpPr/>
          <p:nvPr/>
        </p:nvSpPr>
        <p:spPr>
          <a:xfrm>
            <a:off x="6126480" y="3598164"/>
            <a:ext cx="365760" cy="0"/>
          </a:xfrm>
          <a:prstGeom prst="line">
            <a:avLst/>
          </a:prstGeom>
          <a:noFill/>
          <a:ln w="22225">
            <a:solidFill>
              <a:srgbClr val="0E8F87"/>
            </a:solidFill>
            <a:prstDash val="solid"/>
            <a:tailEnd type="triangle"/>
          </a:ln>
        </p:spPr>
      </p:sp>
      <p:sp>
        <p:nvSpPr>
          <p:cNvPr id="49" name="Shape 47"/>
          <p:cNvSpPr/>
          <p:nvPr/>
        </p:nvSpPr>
        <p:spPr>
          <a:xfrm>
            <a:off x="457200" y="4160520"/>
            <a:ext cx="8229600" cy="329184"/>
          </a:xfrm>
          <a:prstGeom prst="roundRect">
            <a:avLst>
              <a:gd name="adj" fmla="val 16667"/>
            </a:avLst>
          </a:prstGeom>
          <a:solidFill>
            <a:srgbClr val="E8F8F6"/>
          </a:solidFill>
          <a:ln w="12700">
            <a:solidFill>
              <a:srgbClr val="0E8F87"/>
            </a:solidFill>
            <a:prstDash val="solid"/>
          </a:ln>
        </p:spPr>
      </p:sp>
      <p:sp>
        <p:nvSpPr>
          <p:cNvPr id="50" name="Text 48"/>
          <p:cNvSpPr txBox="1"/>
          <p:nvPr/>
        </p:nvSpPr>
        <p:spPr>
          <a:xfrm>
            <a:off x="548640" y="4160520"/>
            <a:ext cx="8046720" cy="329184"/>
          </a:xfrm>
          <a:prstGeom prst="rect">
            <a:avLst/>
          </a:prstGeom>
          <a:noFill/>
          <a:ln/>
        </p:spPr>
        <p:txBody>
          <a:bodyPr wrap="square" lIns="0" tIns="0" rIns="0" bIns="0" rtlCol="0" anchor="ctr"/>
          <a:lstStyle/>
          <a:p>
            <a:pPr marL="0" indent="0">
              <a:buNone/>
            </a:pPr>
            <a:r>
              <a:rPr lang="en-US" sz="1100" b="1" dirty="0">
                <a:solidFill>
                  <a:srgbClr val="0A6F6A"/>
                </a:solidFill>
              </a:rPr>
              <a:t>Design intent: raw values are processed in memory and are not written to logs or reports; reports hold field names, rule IDs, counts.</a:t>
            </a:r>
            <a:endParaRPr lang="en-US" sz="1100" dirty="0"/>
          </a:p>
        </p:txBody>
      </p:sp>
      <p:sp>
        <p:nvSpPr>
          <p:cNvPr id="90" name="Text 90"/>
          <p:cNvSpPr txBox="1"/>
          <p:nvPr/>
        </p:nvSpPr>
        <p:spPr>
          <a:xfrm>
            <a:off x="457200" y="4526280"/>
            <a:ext cx="8229600" cy="228600"/>
          </a:xfrm>
          <a:prstGeom prst="rect">
            <a:avLst/>
          </a:prstGeom>
          <a:noFill/>
          <a:ln/>
        </p:spPr>
        <p:txBody>
          <a:bodyPr wrap="square" lIns="0" tIns="0" rIns="0" bIns="0" rtlCol="0" anchor="ctr"/>
          <a:lstStyle/>
          <a:p>
            <a:pPr marL="0" indent="0">
              <a:buNone/>
            </a:pPr>
            <a:r>
              <a:rPr lang="en-US" sz="1000" dirty="0">
                <a:solidFill>
                  <a:srgbClr val="4B5B70"/>
                </a:solidFill>
              </a:rPr>
              <a:t>Companion to the architecture on slide 7. Planned design; nothing implemented yet.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457200" y="128016"/>
            <a:ext cx="8229600" cy="256032"/>
          </a:xfrm>
          <a:prstGeom prst="rect">
            <a:avLst/>
          </a:prstGeom>
          <a:noFill/>
          <a:ln/>
        </p:spPr>
        <p:txBody>
          <a:bodyPr wrap="square" lIns="0" tIns="0" rIns="0" bIns="0" rtlCol="0" anchor="ctr"/>
          <a:lstStyle/>
          <a:p>
            <a:pPr marL="0" indent="0">
              <a:buNone/>
            </a:pPr>
            <a:r>
              <a:rPr lang="en-US" sz="1100" b="1" dirty="0">
                <a:solidFill>
                  <a:srgbClr val="1B3FCC"/>
                </a:solidFill>
              </a:rPr>
              <a:t>AIORI 3</a:t>
            </a:r>
            <a:r>
              <a:rPr lang="en-US" sz="1100" dirty="0">
                <a:solidFill>
                  <a:srgbClr val="4B5B70"/>
                </a:solidFill>
              </a:rPr>
              <a:t>   Deployment Timeline</a:t>
            </a:r>
            <a:endParaRPr lang="en-US" sz="1100" dirty="0"/>
          </a:p>
        </p:txBody>
      </p:sp>
      <p:sp>
        <p:nvSpPr>
          <p:cNvPr id="4" name="Text 2"/>
          <p:cNvSpPr txBox="1"/>
          <p:nvPr/>
        </p:nvSpPr>
        <p:spPr>
          <a:xfrm>
            <a:off x="457200" y="411480"/>
            <a:ext cx="8229600" cy="502920"/>
          </a:xfrm>
          <a:prstGeom prst="rect">
            <a:avLst/>
          </a:prstGeom>
          <a:noFill/>
          <a:ln/>
        </p:spPr>
        <p:txBody>
          <a:bodyPr wrap="square" lIns="0" tIns="0" rIns="0" bIns="0" rtlCol="0" anchor="ctr"/>
          <a:lstStyle/>
          <a:p>
            <a:pPr marL="0" indent="0">
              <a:buNone/>
            </a:pPr>
            <a:r>
              <a:rPr lang="en-US" sz="2800" b="1" dirty="0">
                <a:solidFill>
                  <a:srgbClr val="1B3FCC"/>
                </a:solidFill>
              </a:rPr>
              <a:t>Deployment Timeline</a:t>
            </a:r>
            <a:endParaRPr lang="en-US" sz="2800" dirty="0"/>
          </a:p>
        </p:txBody>
      </p:sp>
      <p:sp>
        <p:nvSpPr>
          <p:cNvPr id="5" name="Text 3"/>
          <p:cNvSpPr txBox="1"/>
          <p:nvPr/>
        </p:nvSpPr>
        <p:spPr>
          <a:xfrm>
            <a:off x="457200" y="914400"/>
            <a:ext cx="8229600" cy="320040"/>
          </a:xfrm>
          <a:prstGeom prst="rect">
            <a:avLst/>
          </a:prstGeom>
          <a:noFill/>
          <a:ln/>
        </p:spPr>
        <p:txBody>
          <a:bodyPr wrap="square" lIns="0" tIns="0" rIns="0" bIns="0" rtlCol="0" anchor="ctr"/>
          <a:lstStyle/>
          <a:p>
            <a:pPr marL="0" indent="0">
              <a:buNone/>
            </a:pPr>
            <a:r>
              <a:rPr lang="en-US" sz="1300" dirty="0">
                <a:solidFill>
                  <a:srgbClr val="4B5B70"/>
                </a:solidFill>
              </a:rPr>
              <a:t>Provisional roadmap. Dates to be set once the prototype deadline is confirmed.</a:t>
            </a:r>
            <a:endParaRPr lang="en-US" sz="1300" dirty="0"/>
          </a:p>
        </p:txBody>
      </p:sp>
      <p:sp>
        <p:nvSpPr>
          <p:cNvPr id="6" name="Text 4"/>
          <p:cNvSpPr txBox="1"/>
          <p:nvPr/>
        </p:nvSpPr>
        <p:spPr>
          <a:xfrm>
            <a:off x="457200" y="4800600"/>
            <a:ext cx="5486400" cy="228600"/>
          </a:xfrm>
          <a:prstGeom prst="rect">
            <a:avLst/>
          </a:prstGeom>
          <a:noFill/>
          <a:ln/>
        </p:spPr>
        <p:txBody>
          <a:bodyPr wrap="square" lIns="0" tIns="0" rIns="0" bIns="0" rtlCol="0" anchor="ctr"/>
          <a:lstStyle/>
          <a:p>
            <a:pPr marL="0" indent="0">
              <a:buNone/>
            </a:pPr>
            <a:r>
              <a:rPr lang="en-US" sz="1000" dirty="0">
                <a:solidFill>
                  <a:srgbClr val="4B5B70"/>
                </a:solidFill>
              </a:rPr>
              <a:t>Y. Vashishtha  •  A3-PS019-TC539  •  October 14, 2026</a:t>
            </a:r>
            <a:endParaRPr lang="en-US" sz="1000" dirty="0"/>
          </a:p>
        </p:txBody>
      </p:sp>
      <p:sp>
        <p:nvSpPr>
          <p:cNvPr id="7" name="Text 5"/>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en-US" sz="1000" dirty="0">
                <a:solidFill>
                  <a:srgbClr val="4B5B70"/>
                </a:solidFill>
              </a:rPr>
              <a:t>9 / 11</a:t>
            </a:r>
            <a:endParaRPr lang="en-US" sz="1000" dirty="0"/>
          </a:p>
        </p:txBody>
      </p:sp>
      <p:sp>
        <p:nvSpPr>
          <p:cNvPr id="8" name="Shape 6"/>
          <p:cNvSpPr/>
          <p:nvPr/>
        </p:nvSpPr>
        <p:spPr>
          <a:xfrm>
            <a:off x="457200" y="1371600"/>
            <a:ext cx="1938528" cy="1170432"/>
          </a:xfrm>
          <a:prstGeom prst="roundRect">
            <a:avLst>
              <a:gd name="adj" fmla="val 4688"/>
            </a:avLst>
          </a:prstGeom>
          <a:solidFill>
            <a:srgbClr val="F3F7FC"/>
          </a:solidFill>
          <a:ln w="12700">
            <a:solidFill>
              <a:srgbClr val="C5D3E6"/>
            </a:solidFill>
            <a:prstDash val="solid"/>
          </a:ln>
        </p:spPr>
      </p:sp>
      <p:sp>
        <p:nvSpPr>
          <p:cNvPr id="9" name="Shape 7"/>
          <p:cNvSpPr/>
          <p:nvPr/>
        </p:nvSpPr>
        <p:spPr>
          <a:xfrm>
            <a:off x="548640" y="1463040"/>
            <a:ext cx="329184" cy="329184"/>
          </a:xfrm>
          <a:prstGeom prst="ellipse">
            <a:avLst/>
          </a:prstGeom>
          <a:solidFill>
            <a:srgbClr val="2DD4BF"/>
          </a:solidFill>
          <a:ln w="12700">
            <a:solidFill>
              <a:srgbClr val="0E8F87"/>
            </a:solidFill>
            <a:prstDash val="solid"/>
          </a:ln>
        </p:spPr>
      </p:sp>
      <p:sp>
        <p:nvSpPr>
          <p:cNvPr id="10" name="Text 8"/>
          <p:cNvSpPr txBox="1"/>
          <p:nvPr/>
        </p:nvSpPr>
        <p:spPr>
          <a:xfrm>
            <a:off x="548640" y="1463040"/>
            <a:ext cx="329184" cy="329184"/>
          </a:xfrm>
          <a:prstGeom prst="rect">
            <a:avLst/>
          </a:prstGeom>
          <a:noFill/>
          <a:ln/>
        </p:spPr>
        <p:txBody>
          <a:bodyPr wrap="square" lIns="0" tIns="0" rIns="0" bIns="0" rtlCol="0" anchor="ctr"/>
          <a:lstStyle/>
          <a:p>
            <a:pPr marL="0" indent="0" algn="ctr">
              <a:buNone/>
            </a:pPr>
            <a:r>
              <a:rPr lang="en-US" sz="1300" b="1" dirty="0">
                <a:solidFill>
                  <a:srgbClr val="10203A"/>
                </a:solidFill>
              </a:rPr>
              <a:t>1</a:t>
            </a:r>
            <a:endParaRPr lang="en-US" sz="1300" dirty="0"/>
          </a:p>
        </p:txBody>
      </p:sp>
      <p:sp>
        <p:nvSpPr>
          <p:cNvPr id="11" name="Text 9"/>
          <p:cNvSpPr txBox="1"/>
          <p:nvPr/>
        </p:nvSpPr>
        <p:spPr>
          <a:xfrm>
            <a:off x="548640" y="1828800"/>
            <a:ext cx="1755648" cy="685800"/>
          </a:xfrm>
          <a:prstGeom prst="rect">
            <a:avLst/>
          </a:prstGeom>
          <a:noFill/>
          <a:ln/>
        </p:spPr>
        <p:txBody>
          <a:bodyPr wrap="square" lIns="0" tIns="0" rIns="0" bIns="0" rtlCol="0" anchor="t"/>
          <a:lstStyle/>
          <a:p>
            <a:pPr marL="0" indent="0">
              <a:buNone/>
            </a:pPr>
            <a:r>
              <a:rPr lang="en-US" sz="1150" dirty="0">
                <a:solidFill>
                  <a:srgbClr val="1E2A3B"/>
                </a:solidFill>
              </a:rPr>
              <a:t>Confirm official requirements and the five class definitions</a:t>
            </a:r>
            <a:endParaRPr lang="en-US" sz="1150" dirty="0"/>
          </a:p>
        </p:txBody>
      </p:sp>
      <p:sp>
        <p:nvSpPr>
          <p:cNvPr id="12" name="Shape 10"/>
          <p:cNvSpPr/>
          <p:nvPr/>
        </p:nvSpPr>
        <p:spPr>
          <a:xfrm>
            <a:off x="2542032" y="1371600"/>
            <a:ext cx="1938528" cy="1170432"/>
          </a:xfrm>
          <a:prstGeom prst="roundRect">
            <a:avLst>
              <a:gd name="adj" fmla="val 4688"/>
            </a:avLst>
          </a:prstGeom>
          <a:solidFill>
            <a:srgbClr val="F3F7FC"/>
          </a:solidFill>
          <a:ln w="12700">
            <a:solidFill>
              <a:srgbClr val="C5D3E6"/>
            </a:solidFill>
            <a:prstDash val="solid"/>
          </a:ln>
        </p:spPr>
      </p:sp>
      <p:sp>
        <p:nvSpPr>
          <p:cNvPr id="13" name="Shape 11"/>
          <p:cNvSpPr/>
          <p:nvPr/>
        </p:nvSpPr>
        <p:spPr>
          <a:xfrm>
            <a:off x="2633472" y="1463040"/>
            <a:ext cx="329184" cy="329184"/>
          </a:xfrm>
          <a:prstGeom prst="ellipse">
            <a:avLst/>
          </a:prstGeom>
          <a:solidFill>
            <a:srgbClr val="2DD4BF"/>
          </a:solidFill>
          <a:ln w="12700">
            <a:solidFill>
              <a:srgbClr val="0E8F87"/>
            </a:solidFill>
            <a:prstDash val="solid"/>
          </a:ln>
        </p:spPr>
      </p:sp>
      <p:sp>
        <p:nvSpPr>
          <p:cNvPr id="14" name="Text 12"/>
          <p:cNvSpPr txBox="1"/>
          <p:nvPr/>
        </p:nvSpPr>
        <p:spPr>
          <a:xfrm>
            <a:off x="2633472" y="1463040"/>
            <a:ext cx="329184" cy="329184"/>
          </a:xfrm>
          <a:prstGeom prst="rect">
            <a:avLst/>
          </a:prstGeom>
          <a:noFill/>
          <a:ln/>
        </p:spPr>
        <p:txBody>
          <a:bodyPr wrap="square" lIns="0" tIns="0" rIns="0" bIns="0" rtlCol="0" anchor="ctr"/>
          <a:lstStyle/>
          <a:p>
            <a:pPr marL="0" indent="0" algn="ctr">
              <a:buNone/>
            </a:pPr>
            <a:r>
              <a:rPr lang="en-US" sz="1300" b="1" dirty="0">
                <a:solidFill>
                  <a:srgbClr val="10203A"/>
                </a:solidFill>
              </a:rPr>
              <a:t>2</a:t>
            </a:r>
            <a:endParaRPr lang="en-US" sz="1300" dirty="0"/>
          </a:p>
        </p:txBody>
      </p:sp>
      <p:sp>
        <p:nvSpPr>
          <p:cNvPr id="15" name="Text 13"/>
          <p:cNvSpPr txBox="1"/>
          <p:nvPr/>
        </p:nvSpPr>
        <p:spPr>
          <a:xfrm>
            <a:off x="2633472" y="1828800"/>
            <a:ext cx="1755648" cy="685800"/>
          </a:xfrm>
          <a:prstGeom prst="rect">
            <a:avLst/>
          </a:prstGeom>
          <a:noFill/>
          <a:ln/>
        </p:spPr>
        <p:txBody>
          <a:bodyPr wrap="square" lIns="0" tIns="0" rIns="0" bIns="0" rtlCol="0" anchor="t"/>
          <a:lstStyle/>
          <a:p>
            <a:pPr marL="0" indent="0">
              <a:buNone/>
            </a:pPr>
            <a:r>
              <a:rPr lang="en-US" sz="1150" dirty="0">
                <a:solidFill>
                  <a:srgbClr val="1E2A3B"/>
                </a:solidFill>
              </a:rPr>
              <a:t>Define data contracts and labelling rules</a:t>
            </a:r>
            <a:endParaRPr lang="en-US" sz="1150" dirty="0"/>
          </a:p>
        </p:txBody>
      </p:sp>
      <p:sp>
        <p:nvSpPr>
          <p:cNvPr id="16" name="Shape 14"/>
          <p:cNvSpPr/>
          <p:nvPr/>
        </p:nvSpPr>
        <p:spPr>
          <a:xfrm>
            <a:off x="4626864" y="1371600"/>
            <a:ext cx="1938528" cy="1170432"/>
          </a:xfrm>
          <a:prstGeom prst="roundRect">
            <a:avLst>
              <a:gd name="adj" fmla="val 4688"/>
            </a:avLst>
          </a:prstGeom>
          <a:solidFill>
            <a:srgbClr val="F3F7FC"/>
          </a:solidFill>
          <a:ln w="12700">
            <a:solidFill>
              <a:srgbClr val="C5D3E6"/>
            </a:solidFill>
            <a:prstDash val="solid"/>
          </a:ln>
        </p:spPr>
      </p:sp>
      <p:sp>
        <p:nvSpPr>
          <p:cNvPr id="17" name="Shape 15"/>
          <p:cNvSpPr/>
          <p:nvPr/>
        </p:nvSpPr>
        <p:spPr>
          <a:xfrm>
            <a:off x="4718304" y="1463040"/>
            <a:ext cx="329184" cy="329184"/>
          </a:xfrm>
          <a:prstGeom prst="ellipse">
            <a:avLst/>
          </a:prstGeom>
          <a:solidFill>
            <a:srgbClr val="2DD4BF"/>
          </a:solidFill>
          <a:ln w="12700">
            <a:solidFill>
              <a:srgbClr val="0E8F87"/>
            </a:solidFill>
            <a:prstDash val="solid"/>
          </a:ln>
        </p:spPr>
      </p:sp>
      <p:sp>
        <p:nvSpPr>
          <p:cNvPr id="18" name="Text 16"/>
          <p:cNvSpPr txBox="1"/>
          <p:nvPr/>
        </p:nvSpPr>
        <p:spPr>
          <a:xfrm>
            <a:off x="4718304" y="1463040"/>
            <a:ext cx="329184" cy="329184"/>
          </a:xfrm>
          <a:prstGeom prst="rect">
            <a:avLst/>
          </a:prstGeom>
          <a:noFill/>
          <a:ln/>
        </p:spPr>
        <p:txBody>
          <a:bodyPr wrap="square" lIns="0" tIns="0" rIns="0" bIns="0" rtlCol="0" anchor="ctr"/>
          <a:lstStyle/>
          <a:p>
            <a:pPr marL="0" indent="0" algn="ctr">
              <a:buNone/>
            </a:pPr>
            <a:r>
              <a:rPr lang="en-US" sz="1300" b="1" dirty="0">
                <a:solidFill>
                  <a:srgbClr val="10203A"/>
                </a:solidFill>
              </a:rPr>
              <a:t>3</a:t>
            </a:r>
            <a:endParaRPr lang="en-US" sz="1300" dirty="0"/>
          </a:p>
        </p:txBody>
      </p:sp>
      <p:sp>
        <p:nvSpPr>
          <p:cNvPr id="19" name="Text 17"/>
          <p:cNvSpPr txBox="1"/>
          <p:nvPr/>
        </p:nvSpPr>
        <p:spPr>
          <a:xfrm>
            <a:off x="4718304" y="1828800"/>
            <a:ext cx="1755648" cy="685800"/>
          </a:xfrm>
          <a:prstGeom prst="rect">
            <a:avLst/>
          </a:prstGeom>
          <a:noFill/>
          <a:ln/>
        </p:spPr>
        <p:txBody>
          <a:bodyPr wrap="square" lIns="0" tIns="0" rIns="0" bIns="0" rtlCol="0" anchor="t"/>
          <a:lstStyle/>
          <a:p>
            <a:pPr marL="0" indent="0">
              <a:buNone/>
            </a:pPr>
            <a:r>
              <a:rPr lang="en-US" sz="1150" dirty="0">
                <a:solidFill>
                  <a:srgbClr val="1E2A3B"/>
                </a:solidFill>
              </a:rPr>
              <a:t>Build synthetic datasets and evaluation harness</a:t>
            </a:r>
            <a:endParaRPr lang="en-US" sz="1150" dirty="0"/>
          </a:p>
        </p:txBody>
      </p:sp>
      <p:sp>
        <p:nvSpPr>
          <p:cNvPr id="20" name="Shape 18"/>
          <p:cNvSpPr/>
          <p:nvPr/>
        </p:nvSpPr>
        <p:spPr>
          <a:xfrm>
            <a:off x="6711696" y="1371600"/>
            <a:ext cx="1938528" cy="1170432"/>
          </a:xfrm>
          <a:prstGeom prst="roundRect">
            <a:avLst>
              <a:gd name="adj" fmla="val 4688"/>
            </a:avLst>
          </a:prstGeom>
          <a:solidFill>
            <a:srgbClr val="F3F7FC"/>
          </a:solidFill>
          <a:ln w="12700">
            <a:solidFill>
              <a:srgbClr val="C5D3E6"/>
            </a:solidFill>
            <a:prstDash val="solid"/>
          </a:ln>
        </p:spPr>
      </p:sp>
      <p:sp>
        <p:nvSpPr>
          <p:cNvPr id="21" name="Shape 19"/>
          <p:cNvSpPr/>
          <p:nvPr/>
        </p:nvSpPr>
        <p:spPr>
          <a:xfrm>
            <a:off x="6803136" y="1463040"/>
            <a:ext cx="329184" cy="329184"/>
          </a:xfrm>
          <a:prstGeom prst="ellipse">
            <a:avLst/>
          </a:prstGeom>
          <a:solidFill>
            <a:srgbClr val="2DD4BF"/>
          </a:solidFill>
          <a:ln w="12700">
            <a:solidFill>
              <a:srgbClr val="0E8F87"/>
            </a:solidFill>
            <a:prstDash val="solid"/>
          </a:ln>
        </p:spPr>
      </p:sp>
      <p:sp>
        <p:nvSpPr>
          <p:cNvPr id="22" name="Text 20"/>
          <p:cNvSpPr txBox="1"/>
          <p:nvPr/>
        </p:nvSpPr>
        <p:spPr>
          <a:xfrm>
            <a:off x="6803136" y="1463040"/>
            <a:ext cx="329184" cy="329184"/>
          </a:xfrm>
          <a:prstGeom prst="rect">
            <a:avLst/>
          </a:prstGeom>
          <a:noFill/>
          <a:ln/>
        </p:spPr>
        <p:txBody>
          <a:bodyPr wrap="square" lIns="0" tIns="0" rIns="0" bIns="0" rtlCol="0" anchor="ctr"/>
          <a:lstStyle/>
          <a:p>
            <a:pPr marL="0" indent="0" algn="ctr">
              <a:buNone/>
            </a:pPr>
            <a:r>
              <a:rPr lang="en-US" sz="1300" b="1" dirty="0">
                <a:solidFill>
                  <a:srgbClr val="10203A"/>
                </a:solidFill>
              </a:rPr>
              <a:t>4</a:t>
            </a:r>
            <a:endParaRPr lang="en-US" sz="1300" dirty="0"/>
          </a:p>
        </p:txBody>
      </p:sp>
      <p:sp>
        <p:nvSpPr>
          <p:cNvPr id="23" name="Text 21"/>
          <p:cNvSpPr txBox="1"/>
          <p:nvPr/>
        </p:nvSpPr>
        <p:spPr>
          <a:xfrm>
            <a:off x="6803136" y="1828800"/>
            <a:ext cx="1755648" cy="685800"/>
          </a:xfrm>
          <a:prstGeom prst="rect">
            <a:avLst/>
          </a:prstGeom>
          <a:noFill/>
          <a:ln/>
        </p:spPr>
        <p:txBody>
          <a:bodyPr wrap="square" lIns="0" tIns="0" rIns="0" bIns="0" rtlCol="0" anchor="t"/>
          <a:lstStyle/>
          <a:p>
            <a:pPr marL="0" indent="0">
              <a:buNone/>
            </a:pPr>
            <a:r>
              <a:rPr lang="en-US" sz="1150" dirty="0">
                <a:solidFill>
                  <a:srgbClr val="1E2A3B"/>
                </a:solidFill>
              </a:rPr>
              <a:t>Implement CSV and SQLite ingestion</a:t>
            </a:r>
            <a:endParaRPr lang="en-US" sz="1150" dirty="0"/>
          </a:p>
        </p:txBody>
      </p:sp>
      <p:sp>
        <p:nvSpPr>
          <p:cNvPr id="24" name="Shape 22"/>
          <p:cNvSpPr/>
          <p:nvPr/>
        </p:nvSpPr>
        <p:spPr>
          <a:xfrm>
            <a:off x="457200" y="2697480"/>
            <a:ext cx="1938528" cy="1170432"/>
          </a:xfrm>
          <a:prstGeom prst="roundRect">
            <a:avLst>
              <a:gd name="adj" fmla="val 4688"/>
            </a:avLst>
          </a:prstGeom>
          <a:solidFill>
            <a:srgbClr val="F3F7FC"/>
          </a:solidFill>
          <a:ln w="12700">
            <a:solidFill>
              <a:srgbClr val="C5D3E6"/>
            </a:solidFill>
            <a:prstDash val="solid"/>
          </a:ln>
        </p:spPr>
      </p:sp>
      <p:sp>
        <p:nvSpPr>
          <p:cNvPr id="25" name="Shape 23"/>
          <p:cNvSpPr/>
          <p:nvPr/>
        </p:nvSpPr>
        <p:spPr>
          <a:xfrm>
            <a:off x="548640" y="2788920"/>
            <a:ext cx="329184" cy="329184"/>
          </a:xfrm>
          <a:prstGeom prst="ellipse">
            <a:avLst/>
          </a:prstGeom>
          <a:solidFill>
            <a:srgbClr val="2DD4BF"/>
          </a:solidFill>
          <a:ln w="12700">
            <a:solidFill>
              <a:srgbClr val="0E8F87"/>
            </a:solidFill>
            <a:prstDash val="solid"/>
          </a:ln>
        </p:spPr>
      </p:sp>
      <p:sp>
        <p:nvSpPr>
          <p:cNvPr id="26" name="Text 24"/>
          <p:cNvSpPr txBox="1"/>
          <p:nvPr/>
        </p:nvSpPr>
        <p:spPr>
          <a:xfrm>
            <a:off x="548640" y="2788920"/>
            <a:ext cx="329184" cy="329184"/>
          </a:xfrm>
          <a:prstGeom prst="rect">
            <a:avLst/>
          </a:prstGeom>
          <a:noFill/>
          <a:ln/>
        </p:spPr>
        <p:txBody>
          <a:bodyPr wrap="square" lIns="0" tIns="0" rIns="0" bIns="0" rtlCol="0" anchor="ctr"/>
          <a:lstStyle/>
          <a:p>
            <a:pPr marL="0" indent="0" algn="ctr">
              <a:buNone/>
            </a:pPr>
            <a:r>
              <a:rPr lang="en-US" sz="1300" b="1" dirty="0">
                <a:solidFill>
                  <a:srgbClr val="10203A"/>
                </a:solidFill>
              </a:rPr>
              <a:t>5</a:t>
            </a:r>
            <a:endParaRPr lang="en-US" sz="1300" dirty="0"/>
          </a:p>
        </p:txBody>
      </p:sp>
      <p:sp>
        <p:nvSpPr>
          <p:cNvPr id="27" name="Text 25"/>
          <p:cNvSpPr txBox="1"/>
          <p:nvPr/>
        </p:nvSpPr>
        <p:spPr>
          <a:xfrm>
            <a:off x="548640" y="3154680"/>
            <a:ext cx="1755648" cy="685800"/>
          </a:xfrm>
          <a:prstGeom prst="rect">
            <a:avLst/>
          </a:prstGeom>
          <a:noFill/>
          <a:ln/>
        </p:spPr>
        <p:txBody>
          <a:bodyPr wrap="square" lIns="0" tIns="0" rIns="0" bIns="0" rtlCol="0" anchor="t"/>
          <a:lstStyle/>
          <a:p>
            <a:pPr marL="0" indent="0">
              <a:buNone/>
            </a:pPr>
            <a:r>
              <a:rPr lang="en-US" sz="1150" dirty="0">
                <a:solidFill>
                  <a:srgbClr val="1E2A3B"/>
                </a:solidFill>
              </a:rPr>
              <a:t>Implement configurable detection and evidence generation</a:t>
            </a:r>
            <a:endParaRPr lang="en-US" sz="1150" dirty="0"/>
          </a:p>
        </p:txBody>
      </p:sp>
      <p:sp>
        <p:nvSpPr>
          <p:cNvPr id="28" name="Shape 26"/>
          <p:cNvSpPr/>
          <p:nvPr/>
        </p:nvSpPr>
        <p:spPr>
          <a:xfrm>
            <a:off x="2542032" y="2697480"/>
            <a:ext cx="1938528" cy="1170432"/>
          </a:xfrm>
          <a:prstGeom prst="roundRect">
            <a:avLst>
              <a:gd name="adj" fmla="val 4688"/>
            </a:avLst>
          </a:prstGeom>
          <a:solidFill>
            <a:srgbClr val="F3F7FC"/>
          </a:solidFill>
          <a:ln w="12700">
            <a:solidFill>
              <a:srgbClr val="C5D3E6"/>
            </a:solidFill>
            <a:prstDash val="solid"/>
          </a:ln>
        </p:spPr>
      </p:sp>
      <p:sp>
        <p:nvSpPr>
          <p:cNvPr id="29" name="Shape 27"/>
          <p:cNvSpPr/>
          <p:nvPr/>
        </p:nvSpPr>
        <p:spPr>
          <a:xfrm>
            <a:off x="2633472" y="2788920"/>
            <a:ext cx="329184" cy="329184"/>
          </a:xfrm>
          <a:prstGeom prst="ellipse">
            <a:avLst/>
          </a:prstGeom>
          <a:solidFill>
            <a:srgbClr val="2DD4BF"/>
          </a:solidFill>
          <a:ln w="12700">
            <a:solidFill>
              <a:srgbClr val="0E8F87"/>
            </a:solidFill>
            <a:prstDash val="solid"/>
          </a:ln>
        </p:spPr>
      </p:sp>
      <p:sp>
        <p:nvSpPr>
          <p:cNvPr id="30" name="Text 28"/>
          <p:cNvSpPr txBox="1"/>
          <p:nvPr/>
        </p:nvSpPr>
        <p:spPr>
          <a:xfrm>
            <a:off x="2633472" y="2788920"/>
            <a:ext cx="329184" cy="329184"/>
          </a:xfrm>
          <a:prstGeom prst="rect">
            <a:avLst/>
          </a:prstGeom>
          <a:noFill/>
          <a:ln/>
        </p:spPr>
        <p:txBody>
          <a:bodyPr wrap="square" lIns="0" tIns="0" rIns="0" bIns="0" rtlCol="0" anchor="ctr"/>
          <a:lstStyle/>
          <a:p>
            <a:pPr marL="0" indent="0" algn="ctr">
              <a:buNone/>
            </a:pPr>
            <a:r>
              <a:rPr lang="en-US" sz="1300" b="1" dirty="0">
                <a:solidFill>
                  <a:srgbClr val="10203A"/>
                </a:solidFill>
              </a:rPr>
              <a:t>6</a:t>
            </a:r>
            <a:endParaRPr lang="en-US" sz="1300" dirty="0"/>
          </a:p>
        </p:txBody>
      </p:sp>
      <p:sp>
        <p:nvSpPr>
          <p:cNvPr id="31" name="Text 29"/>
          <p:cNvSpPr txBox="1"/>
          <p:nvPr/>
        </p:nvSpPr>
        <p:spPr>
          <a:xfrm>
            <a:off x="2633472" y="3154680"/>
            <a:ext cx="1755648" cy="685800"/>
          </a:xfrm>
          <a:prstGeom prst="rect">
            <a:avLst/>
          </a:prstGeom>
          <a:noFill/>
          <a:ln/>
        </p:spPr>
        <p:txBody>
          <a:bodyPr wrap="square" lIns="0" tIns="0" rIns="0" bIns="0" rtlCol="0" anchor="t"/>
          <a:lstStyle/>
          <a:p>
            <a:pPr marL="0" indent="0">
              <a:buNone/>
            </a:pPr>
            <a:r>
              <a:rPr lang="en-US" sz="1150" dirty="0">
                <a:solidFill>
                  <a:srgbClr val="1E2A3B"/>
                </a:solidFill>
              </a:rPr>
              <a:t>Implement metadata mapping and gap reporting</a:t>
            </a:r>
            <a:endParaRPr lang="en-US" sz="1150" dirty="0"/>
          </a:p>
        </p:txBody>
      </p:sp>
      <p:sp>
        <p:nvSpPr>
          <p:cNvPr id="32" name="Shape 30"/>
          <p:cNvSpPr/>
          <p:nvPr/>
        </p:nvSpPr>
        <p:spPr>
          <a:xfrm>
            <a:off x="4626864" y="2697480"/>
            <a:ext cx="1938528" cy="1170432"/>
          </a:xfrm>
          <a:prstGeom prst="roundRect">
            <a:avLst>
              <a:gd name="adj" fmla="val 4688"/>
            </a:avLst>
          </a:prstGeom>
          <a:solidFill>
            <a:srgbClr val="F3F7FC"/>
          </a:solidFill>
          <a:ln w="12700">
            <a:solidFill>
              <a:srgbClr val="C5D3E6"/>
            </a:solidFill>
            <a:prstDash val="solid"/>
          </a:ln>
        </p:spPr>
      </p:sp>
      <p:sp>
        <p:nvSpPr>
          <p:cNvPr id="33" name="Shape 31"/>
          <p:cNvSpPr/>
          <p:nvPr/>
        </p:nvSpPr>
        <p:spPr>
          <a:xfrm>
            <a:off x="4718304" y="2788920"/>
            <a:ext cx="329184" cy="329184"/>
          </a:xfrm>
          <a:prstGeom prst="ellipse">
            <a:avLst/>
          </a:prstGeom>
          <a:solidFill>
            <a:srgbClr val="2DD4BF"/>
          </a:solidFill>
          <a:ln w="12700">
            <a:solidFill>
              <a:srgbClr val="0E8F87"/>
            </a:solidFill>
            <a:prstDash val="solid"/>
          </a:ln>
        </p:spPr>
      </p:sp>
      <p:sp>
        <p:nvSpPr>
          <p:cNvPr id="34" name="Text 32"/>
          <p:cNvSpPr txBox="1"/>
          <p:nvPr/>
        </p:nvSpPr>
        <p:spPr>
          <a:xfrm>
            <a:off x="4718304" y="2788920"/>
            <a:ext cx="329184" cy="329184"/>
          </a:xfrm>
          <a:prstGeom prst="rect">
            <a:avLst/>
          </a:prstGeom>
          <a:noFill/>
          <a:ln/>
        </p:spPr>
        <p:txBody>
          <a:bodyPr wrap="square" lIns="0" tIns="0" rIns="0" bIns="0" rtlCol="0" anchor="ctr"/>
          <a:lstStyle/>
          <a:p>
            <a:pPr marL="0" indent="0" algn="ctr">
              <a:buNone/>
            </a:pPr>
            <a:r>
              <a:rPr lang="en-US" sz="1300" b="1" dirty="0">
                <a:solidFill>
                  <a:srgbClr val="10203A"/>
                </a:solidFill>
              </a:rPr>
              <a:t>7</a:t>
            </a:r>
            <a:endParaRPr lang="en-US" sz="1300" dirty="0"/>
          </a:p>
        </p:txBody>
      </p:sp>
      <p:sp>
        <p:nvSpPr>
          <p:cNvPr id="35" name="Text 33"/>
          <p:cNvSpPr txBox="1"/>
          <p:nvPr/>
        </p:nvSpPr>
        <p:spPr>
          <a:xfrm>
            <a:off x="4718304" y="3154680"/>
            <a:ext cx="1755648" cy="685800"/>
          </a:xfrm>
          <a:prstGeom prst="rect">
            <a:avLst/>
          </a:prstGeom>
          <a:noFill/>
          <a:ln/>
        </p:spPr>
        <p:txBody>
          <a:bodyPr wrap="square" lIns="0" tIns="0" rIns="0" bIns="0" rtlCol="0" anchor="t"/>
          <a:lstStyle/>
          <a:p>
            <a:pPr marL="0" indent="0">
              <a:buNone/>
            </a:pPr>
            <a:r>
              <a:rPr lang="en-US" sz="1150" dirty="0">
                <a:solidFill>
                  <a:srgbClr val="1E2A3B"/>
                </a:solidFill>
              </a:rPr>
              <a:t>Integrate exports and minimal review interface</a:t>
            </a:r>
            <a:endParaRPr lang="en-US" sz="1150" dirty="0"/>
          </a:p>
        </p:txBody>
      </p:sp>
      <p:sp>
        <p:nvSpPr>
          <p:cNvPr id="36" name="Shape 34"/>
          <p:cNvSpPr/>
          <p:nvPr/>
        </p:nvSpPr>
        <p:spPr>
          <a:xfrm>
            <a:off x="6711696" y="2697480"/>
            <a:ext cx="1938528" cy="1170432"/>
          </a:xfrm>
          <a:prstGeom prst="roundRect">
            <a:avLst>
              <a:gd name="adj" fmla="val 4688"/>
            </a:avLst>
          </a:prstGeom>
          <a:solidFill>
            <a:srgbClr val="F3F7FC"/>
          </a:solidFill>
          <a:ln w="12700">
            <a:solidFill>
              <a:srgbClr val="C5D3E6"/>
            </a:solidFill>
            <a:prstDash val="solid"/>
          </a:ln>
        </p:spPr>
      </p:sp>
      <p:sp>
        <p:nvSpPr>
          <p:cNvPr id="37" name="Shape 35"/>
          <p:cNvSpPr/>
          <p:nvPr/>
        </p:nvSpPr>
        <p:spPr>
          <a:xfrm>
            <a:off x="6803136" y="2788920"/>
            <a:ext cx="329184" cy="329184"/>
          </a:xfrm>
          <a:prstGeom prst="ellipse">
            <a:avLst/>
          </a:prstGeom>
          <a:solidFill>
            <a:srgbClr val="2DD4BF"/>
          </a:solidFill>
          <a:ln w="12700">
            <a:solidFill>
              <a:srgbClr val="0E8F87"/>
            </a:solidFill>
            <a:prstDash val="solid"/>
          </a:ln>
        </p:spPr>
      </p:sp>
      <p:sp>
        <p:nvSpPr>
          <p:cNvPr id="38" name="Text 36"/>
          <p:cNvSpPr txBox="1"/>
          <p:nvPr/>
        </p:nvSpPr>
        <p:spPr>
          <a:xfrm>
            <a:off x="6803136" y="2788920"/>
            <a:ext cx="329184" cy="329184"/>
          </a:xfrm>
          <a:prstGeom prst="rect">
            <a:avLst/>
          </a:prstGeom>
          <a:noFill/>
          <a:ln/>
        </p:spPr>
        <p:txBody>
          <a:bodyPr wrap="square" lIns="0" tIns="0" rIns="0" bIns="0" rtlCol="0" anchor="ctr"/>
          <a:lstStyle/>
          <a:p>
            <a:pPr marL="0" indent="0" algn="ctr">
              <a:buNone/>
            </a:pPr>
            <a:r>
              <a:rPr lang="en-US" sz="1300" b="1" dirty="0">
                <a:solidFill>
                  <a:srgbClr val="10203A"/>
                </a:solidFill>
              </a:rPr>
              <a:t>8</a:t>
            </a:r>
            <a:endParaRPr lang="en-US" sz="1300" dirty="0"/>
          </a:p>
        </p:txBody>
      </p:sp>
      <p:sp>
        <p:nvSpPr>
          <p:cNvPr id="39" name="Text 37"/>
          <p:cNvSpPr txBox="1"/>
          <p:nvPr/>
        </p:nvSpPr>
        <p:spPr>
          <a:xfrm>
            <a:off x="6803136" y="3154680"/>
            <a:ext cx="1755648" cy="685800"/>
          </a:xfrm>
          <a:prstGeom prst="rect">
            <a:avLst/>
          </a:prstGeom>
          <a:noFill/>
          <a:ln/>
        </p:spPr>
        <p:txBody>
          <a:bodyPr wrap="square" lIns="0" tIns="0" rIns="0" bIns="0" rtlCol="0" anchor="t"/>
          <a:lstStyle/>
          <a:p>
            <a:pPr marL="0" indent="0">
              <a:buNone/>
            </a:pPr>
            <a:r>
              <a:rPr lang="en-US" sz="1150" dirty="0">
                <a:solidFill>
                  <a:srgbClr val="1E2A3B"/>
                </a:solidFill>
              </a:rPr>
              <a:t>Test, evaluate, document, rehearse the demonstration</a:t>
            </a:r>
            <a:endParaRPr lang="en-US" sz="1150" dirty="0"/>
          </a:p>
        </p:txBody>
      </p:sp>
      <p:sp>
        <p:nvSpPr>
          <p:cNvPr id="40" name="Shape 38"/>
          <p:cNvSpPr/>
          <p:nvPr/>
        </p:nvSpPr>
        <p:spPr>
          <a:xfrm>
            <a:off x="457200" y="4114800"/>
            <a:ext cx="8229600" cy="329184"/>
          </a:xfrm>
          <a:prstGeom prst="roundRect">
            <a:avLst>
              <a:gd name="adj" fmla="val 16667"/>
            </a:avLst>
          </a:prstGeom>
          <a:solidFill>
            <a:srgbClr val="FFF6DD"/>
          </a:solidFill>
          <a:ln w="12700">
            <a:solidFill>
              <a:srgbClr val="C98A12"/>
            </a:solidFill>
            <a:prstDash val="solid"/>
          </a:ln>
        </p:spPr>
      </p:sp>
      <p:sp>
        <p:nvSpPr>
          <p:cNvPr id="41" name="Text 39"/>
          <p:cNvSpPr txBox="1"/>
          <p:nvPr/>
        </p:nvSpPr>
        <p:spPr>
          <a:xfrm>
            <a:off x="548640" y="4114800"/>
            <a:ext cx="8046720" cy="329184"/>
          </a:xfrm>
          <a:prstGeom prst="rect">
            <a:avLst/>
          </a:prstGeom>
          <a:noFill/>
          <a:ln/>
        </p:spPr>
        <p:txBody>
          <a:bodyPr wrap="square" lIns="0" tIns="0" rIns="0" bIns="0" rtlCol="0" anchor="ctr"/>
          <a:lstStyle/>
          <a:p>
            <a:pPr marL="0" indent="0">
              <a:buNone/>
            </a:pPr>
            <a:r>
              <a:rPr lang="en-US" sz="1100" b="1" dirty="0">
                <a:solidFill>
                  <a:srgbClr val="8A5A00"/>
                </a:solidFill>
              </a:rPr>
              <a:t>Current status: planning and initial repository setup. No milestone beyond that is complete.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457200" y="128016"/>
            <a:ext cx="8229600" cy="256032"/>
          </a:xfrm>
          <a:prstGeom prst="rect">
            <a:avLst/>
          </a:prstGeom>
          <a:noFill/>
          <a:ln/>
        </p:spPr>
        <p:txBody>
          <a:bodyPr wrap="square" lIns="0" tIns="0" rIns="0" bIns="0" rtlCol="0" anchor="ctr"/>
          <a:lstStyle/>
          <a:p>
            <a:pPr marL="0" indent="0">
              <a:buNone/>
            </a:pPr>
            <a:r>
              <a:rPr lang="en-US" sz="1100" b="1" dirty="0">
                <a:solidFill>
                  <a:srgbClr val="1B3FCC"/>
                </a:solidFill>
              </a:rPr>
              <a:t>AIORI 3</a:t>
            </a:r>
            <a:r>
              <a:rPr lang="en-US" sz="1100" dirty="0">
                <a:solidFill>
                  <a:srgbClr val="4B5B70"/>
                </a:solidFill>
              </a:rPr>
              <a:t>   Bibliography</a:t>
            </a:r>
            <a:endParaRPr lang="en-US" sz="1100" dirty="0"/>
          </a:p>
        </p:txBody>
      </p:sp>
      <p:sp>
        <p:nvSpPr>
          <p:cNvPr id="4" name="Text 2"/>
          <p:cNvSpPr txBox="1"/>
          <p:nvPr/>
        </p:nvSpPr>
        <p:spPr>
          <a:xfrm>
            <a:off x="457200" y="411480"/>
            <a:ext cx="8229600" cy="502920"/>
          </a:xfrm>
          <a:prstGeom prst="rect">
            <a:avLst/>
          </a:prstGeom>
          <a:noFill/>
          <a:ln/>
        </p:spPr>
        <p:txBody>
          <a:bodyPr wrap="square" lIns="0" tIns="0" rIns="0" bIns="0" rtlCol="0" anchor="ctr"/>
          <a:lstStyle/>
          <a:p>
            <a:pPr marL="0" indent="0">
              <a:buNone/>
            </a:pPr>
            <a:r>
              <a:rPr lang="en-US" sz="2800" b="1" dirty="0">
                <a:solidFill>
                  <a:srgbClr val="1B3FCC"/>
                </a:solidFill>
              </a:rPr>
              <a:t>Bibliography</a:t>
            </a:r>
            <a:endParaRPr lang="en-US" sz="2800" dirty="0"/>
          </a:p>
        </p:txBody>
      </p:sp>
      <p:sp>
        <p:nvSpPr>
          <p:cNvPr id="5" name="Text 3"/>
          <p:cNvSpPr txBox="1"/>
          <p:nvPr/>
        </p:nvSpPr>
        <p:spPr>
          <a:xfrm>
            <a:off x="457200" y="914400"/>
            <a:ext cx="8229600" cy="320040"/>
          </a:xfrm>
          <a:prstGeom prst="rect">
            <a:avLst/>
          </a:prstGeom>
          <a:noFill/>
          <a:ln/>
        </p:spPr>
        <p:txBody>
          <a:bodyPr wrap="square" lIns="0" tIns="0" rIns="0" bIns="0" rtlCol="0" anchor="ctr"/>
          <a:lstStyle/>
          <a:p>
            <a:pPr marL="0" indent="0">
              <a:buNone/>
            </a:pPr>
            <a:r>
              <a:rPr lang="en-US" sz="1300" dirty="0">
                <a:solidFill>
                  <a:srgbClr val="4B5B70"/>
                </a:solidFill>
              </a:rPr>
              <a:t>Accessed October 14, 2026</a:t>
            </a:r>
            <a:endParaRPr lang="en-US" sz="1300" dirty="0"/>
          </a:p>
        </p:txBody>
      </p:sp>
      <p:sp>
        <p:nvSpPr>
          <p:cNvPr id="6" name="Text 4"/>
          <p:cNvSpPr txBox="1"/>
          <p:nvPr/>
        </p:nvSpPr>
        <p:spPr>
          <a:xfrm>
            <a:off x="457200" y="4800600"/>
            <a:ext cx="5486400" cy="228600"/>
          </a:xfrm>
          <a:prstGeom prst="rect">
            <a:avLst/>
          </a:prstGeom>
          <a:noFill/>
          <a:ln/>
        </p:spPr>
        <p:txBody>
          <a:bodyPr wrap="square" lIns="0" tIns="0" rIns="0" bIns="0" rtlCol="0" anchor="ctr"/>
          <a:lstStyle/>
          <a:p>
            <a:pPr marL="0" indent="0">
              <a:buNone/>
            </a:pPr>
            <a:r>
              <a:rPr lang="en-US" sz="1000" dirty="0">
                <a:solidFill>
                  <a:srgbClr val="4B5B70"/>
                </a:solidFill>
              </a:rPr>
              <a:t>Y. Vashishtha  •  A3-PS019-TC539  •  October 14, 2026</a:t>
            </a:r>
            <a:endParaRPr lang="en-US" sz="1000" dirty="0"/>
          </a:p>
        </p:txBody>
      </p:sp>
      <p:sp>
        <p:nvSpPr>
          <p:cNvPr id="7" name="Text 5"/>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en-US" sz="1000" dirty="0">
                <a:solidFill>
                  <a:srgbClr val="4B5B70"/>
                </a:solidFill>
              </a:rPr>
              <a:t>10 / 11</a:t>
            </a:r>
            <a:endParaRPr lang="en-US" sz="1000" dirty="0"/>
          </a:p>
        </p:txBody>
      </p:sp>
      <p:sp>
        <p:nvSpPr>
          <p:cNvPr id="8" name="Text 6"/>
          <p:cNvSpPr txBox="1"/>
          <p:nvPr/>
        </p:nvSpPr>
        <p:spPr>
          <a:xfrm>
            <a:off x="457200" y="1280160"/>
            <a:ext cx="8229600" cy="3383280"/>
          </a:xfrm>
          <a:prstGeom prst="rect">
            <a:avLst/>
          </a:prstGeom>
          <a:noFill/>
          <a:ln/>
        </p:spPr>
        <p:txBody>
          <a:bodyPr wrap="square" lIns="0" tIns="0" rIns="0" bIns="0" rtlCol="0" anchor="t"/>
          <a:lstStyle/>
          <a:p>
            <a:pPr marL="0" indent="0">
              <a:spcAft>
                <a:spcPts val="600"/>
              </a:spcAft>
              <a:buNone/>
            </a:pPr>
            <a:r>
              <a:rPr lang="en-US" sz="1200" dirty="0">
                <a:solidFill>
                  <a:srgbClr val="1E2A3B"/>
                </a:solidFill>
              </a:rPr>
              <a:t>[1] MeitY, Government of India. “Data Protection Framework.” (listed in PS-019) </a:t>
            </a:r>
            <a:r>
              <a:rPr lang="en-US" sz="1200" u="sng" dirty="0">
                <a:solidFill>
                  <a:srgbClr val="1B3FCC"/>
                </a:solidFill>
                <a:hlinkClick r:id="rId3"/>
              </a:rPr>
              <a:t>https://www.meity.gov.in/data-protection-framework</a:t>
            </a:r>
            <a:endParaRPr lang="en-US" sz="1200" dirty="0"/>
          </a:p>
          <a:p>
            <a:pPr marL="0" indent="0">
              <a:spcAft>
                <a:spcPts val="600"/>
              </a:spcAft>
              <a:buNone/>
            </a:pPr>
            <a:r>
              <a:rPr lang="en-US" sz="1200" dirty="0">
                <a:solidFill>
                  <a:srgbClr val="1E2A3B"/>
                </a:solidFill>
              </a:rPr>
              <a:t>[2] MeitY. Gazette of India, Extraordinary, Part II, Sec. 3(i): G.S.R. 846(E), “Digital Personal Data Protection Rules, 2025,” 13 Nov 2025. </a:t>
            </a:r>
            <a:r>
              <a:rPr lang="en-US" sz="1200" u="sng" dirty="0">
                <a:solidFill>
                  <a:srgbClr val="1B3FCC"/>
                </a:solidFill>
                <a:hlinkClick r:id="rId4"/>
              </a:rPr>
              <a:t>https://www.meity.gov.in/static/uploads/2025/11/53450e6e5dc0bfa85ebd78686cadad39.pdf</a:t>
            </a:r>
            <a:endParaRPr lang="en-US" sz="1200" dirty="0"/>
          </a:p>
          <a:p>
            <a:pPr marL="0" indent="0">
              <a:spcAft>
                <a:spcPts val="600"/>
              </a:spcAft>
              <a:buNone/>
            </a:pPr>
            <a:r>
              <a:rPr lang="en-US" sz="1200" dirty="0">
                <a:solidFill>
                  <a:srgbClr val="1E2A3B"/>
                </a:solidFill>
              </a:rPr>
              <a:t>[3] Microsoft. “Presidio structured.” Presidio documentation. </a:t>
            </a:r>
            <a:r>
              <a:rPr lang="en-US" sz="1200" u="sng" dirty="0">
                <a:solidFill>
                  <a:srgbClr val="1B3FCC"/>
                </a:solidFill>
                <a:hlinkClick r:id="rId5"/>
              </a:rPr>
              <a:t>https://microsoft.github.io/presidio/structured/</a:t>
            </a:r>
            <a:endParaRPr lang="en-US" sz="1200" dirty="0"/>
          </a:p>
          <a:p>
            <a:pPr marL="0" indent="0">
              <a:spcAft>
                <a:spcPts val="600"/>
              </a:spcAft>
              <a:buNone/>
            </a:pPr>
            <a:r>
              <a:rPr lang="en-US" sz="1200" dirty="0">
                <a:solidFill>
                  <a:srgbClr val="1E2A3B"/>
                </a:solidFill>
              </a:rPr>
              <a:t>[4] Tokern. “PIICatcher” (GitHub repository README). </a:t>
            </a:r>
            <a:r>
              <a:rPr lang="en-US" sz="1200" u="sng" dirty="0">
                <a:solidFill>
                  <a:srgbClr val="1B3FCC"/>
                </a:solidFill>
                <a:hlinkClick r:id="rId6"/>
              </a:rPr>
              <a:t>https://github.com/tokern/piicatcher</a:t>
            </a:r>
            <a:endParaRPr lang="en-US" sz="1200" dirty="0"/>
          </a:p>
          <a:p>
            <a:pPr marL="0" indent="0">
              <a:spcAft>
                <a:spcPts val="600"/>
              </a:spcAft>
              <a:buNone/>
            </a:pPr>
            <a:r>
              <a:rPr lang="en-US" sz="1200" dirty="0">
                <a:solidFill>
                  <a:srgbClr val="1E2A3B"/>
                </a:solidFill>
              </a:rPr>
              <a:t>[5] OpenMetadata. “Auto-Classification.” Documentation. </a:t>
            </a:r>
            <a:r>
              <a:rPr lang="en-US" sz="1200" u="sng" dirty="0">
                <a:solidFill>
                  <a:srgbClr val="1B3FCC"/>
                </a:solidFill>
                <a:hlinkClick r:id="rId7"/>
              </a:rPr>
              <a:t>https://docs.open-metadata.org/latest/how-to-guides/data-governance/classification/auto-classification</a:t>
            </a:r>
            <a:endParaRPr lang="en-US" sz="1200" dirty="0"/>
          </a:p>
          <a:p>
            <a:pPr marL="0" indent="0">
              <a:spcAft>
                <a:spcPts val="600"/>
              </a:spcAft>
              <a:buNone/>
            </a:pPr>
            <a:r>
              <a:rPr lang="en-US" sz="1200" dirty="0">
                <a:solidFill>
                  <a:srgbClr val="1E2A3B"/>
                </a:solidFill>
              </a:rPr>
              <a:t>[6] DataHub. “SchemaField” (metadata model documentation). </a:t>
            </a:r>
            <a:r>
              <a:rPr lang="en-US" sz="1200" u="sng" dirty="0">
                <a:solidFill>
                  <a:srgbClr val="1B3FCC"/>
                </a:solidFill>
                <a:hlinkClick r:id="rId8"/>
              </a:rPr>
              <a:t>https://docs.datahub.com/docs/generated/metamodel/entities/schemafield-datahub</a:t>
            </a:r>
            <a:endParaRPr lang="en-US" sz="1200" dirty="0"/>
          </a:p>
          <a:p>
            <a:pPr marL="0" indent="0">
              <a:spcAft>
                <a:spcPts val="600"/>
              </a:spcAft>
              <a:buNone/>
            </a:pPr>
            <a:r>
              <a:rPr lang="en-US" sz="1200" dirty="0">
                <a:solidFill>
                  <a:srgbClr val="1E2A3B"/>
                </a:solidFill>
              </a:rPr>
              <a:t>[7] AIORI-3. “PS-019: Personal-Data Discovery and Privacy Evidence Inventory” and “Proposed-structure-hackathon.pdf” (organizer documents).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640080" y="1097280"/>
            <a:ext cx="7863840" cy="914400"/>
          </a:xfrm>
          <a:prstGeom prst="rect">
            <a:avLst/>
          </a:prstGeom>
          <a:noFill/>
          <a:ln/>
        </p:spPr>
        <p:txBody>
          <a:bodyPr wrap="square" lIns="0" tIns="0" rIns="0" bIns="0" rtlCol="0" anchor="ctr"/>
          <a:lstStyle/>
          <a:p>
            <a:pPr marL="0" indent="0">
              <a:buNone/>
            </a:pPr>
            <a:r>
              <a:rPr lang="en-US" sz="4800" b="1" dirty="0">
                <a:solidFill>
                  <a:srgbClr val="1B3FCC"/>
                </a:solidFill>
              </a:rPr>
              <a:t>Thank You</a:t>
            </a:r>
            <a:endParaRPr lang="en-US" sz="4800" dirty="0"/>
          </a:p>
        </p:txBody>
      </p:sp>
      <p:sp>
        <p:nvSpPr>
          <p:cNvPr id="4" name="Text 2"/>
          <p:cNvSpPr txBox="1"/>
          <p:nvPr/>
        </p:nvSpPr>
        <p:spPr>
          <a:xfrm>
            <a:off x="640080" y="2011680"/>
            <a:ext cx="7863840" cy="548640"/>
          </a:xfrm>
          <a:prstGeom prst="rect">
            <a:avLst/>
          </a:prstGeom>
          <a:noFill/>
          <a:ln/>
        </p:spPr>
        <p:txBody>
          <a:bodyPr wrap="square" lIns="0" tIns="0" rIns="0" bIns="0" rtlCol="0" anchor="ctr"/>
          <a:lstStyle/>
          <a:p>
            <a:pPr marL="0" indent="0">
              <a:buNone/>
            </a:pPr>
            <a:r>
              <a:rPr lang="en-US" sz="2800" b="1" dirty="0">
                <a:solidFill>
                  <a:srgbClr val="1B3FCC"/>
                </a:solidFill>
              </a:rPr>
              <a:t>FieldLedger</a:t>
            </a:r>
            <a:endParaRPr lang="en-US" sz="2800" dirty="0"/>
          </a:p>
        </p:txBody>
      </p:sp>
      <p:sp>
        <p:nvSpPr>
          <p:cNvPr id="5" name="Text 3"/>
          <p:cNvSpPr txBox="1"/>
          <p:nvPr/>
        </p:nvSpPr>
        <p:spPr>
          <a:xfrm>
            <a:off x="640080" y="2834640"/>
            <a:ext cx="7863840" cy="822960"/>
          </a:xfrm>
          <a:prstGeom prst="rect">
            <a:avLst/>
          </a:prstGeom>
          <a:noFill/>
          <a:ln/>
        </p:spPr>
        <p:txBody>
          <a:bodyPr wrap="square" lIns="0" tIns="0" rIns="0" bIns="0" rtlCol="0" anchor="t"/>
          <a:lstStyle/>
          <a:p>
            <a:pPr marL="0" indent="0">
              <a:buNone/>
            </a:pPr>
            <a:r>
              <a:rPr lang="en-US" sz="1600" dirty="0">
                <a:solidFill>
                  <a:srgbClr val="1E2A3B"/>
                </a:solidFill>
              </a:rPr>
              <a:t>Team Cipher  •  A3-PS019-TC539</a:t>
            </a:r>
            <a:endParaRPr lang="en-US" sz="1600" dirty="0"/>
          </a:p>
          <a:p>
            <a:pPr marL="0" indent="0">
              <a:buNone/>
            </a:pPr>
            <a:r>
              <a:rPr lang="en-US" sz="1400" dirty="0">
                <a:solidFill>
                  <a:srgbClr val="4B5B70"/>
                </a:solidFill>
              </a:rPr>
              <a:t>Repository: </a:t>
            </a:r>
            <a:r>
              <a:rPr lang="en-US" sz="1400" u="sng" dirty="0">
                <a:solidFill>
                  <a:srgbClr val="1B3FCC"/>
                </a:solidFill>
                <a:hlinkClick r:id="rId3"/>
              </a:rPr>
              <a:t>https://github.com/sudoyashvardhanvashistha/A3-PS019-TC539</a:t>
            </a:r>
            <a:endParaRPr lang="en-US" sz="1600" dirty="0"/>
          </a:p>
        </p:txBody>
      </p:sp>
      <p:sp>
        <p:nvSpPr>
          <p:cNvPr id="6" name="Text 4"/>
          <p:cNvSpPr txBox="1"/>
          <p:nvPr/>
        </p:nvSpPr>
        <p:spPr>
          <a:xfrm>
            <a:off x="7772400" y="4800600"/>
            <a:ext cx="914400" cy="228600"/>
          </a:xfrm>
          <a:prstGeom prst="rect">
            <a:avLst/>
          </a:prstGeom>
          <a:noFill/>
          <a:ln/>
        </p:spPr>
        <p:txBody>
          <a:bodyPr wrap="square" lIns="0" tIns="0" rIns="0" bIns="0" rtlCol="0" anchor="ctr"/>
          <a:lstStyle/>
          <a:p>
            <a:pPr marL="0" indent="0" algn="r">
              <a:buNone/>
            </a:pPr>
            <a:r>
              <a:rPr lang="en-US" sz="1000" dirty="0">
                <a:solidFill>
                  <a:srgbClr val="4B5B70"/>
                </a:solidFill>
              </a:rPr>
              <a:t>11 / 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3754</Words>
  <Application>Microsoft Office PowerPoint</Application>
  <PresentationFormat>On-screen Show (16:9)</PresentationFormat>
  <Paragraphs>225</Paragraphs>
  <Slides>11</Slides>
  <Notes>11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FieldLedger - AIORI-3 PS-019 - Team Cipher</dc:title>
  <dc:subject>PptxGenJS Presentation</dc:subject>
  <dc:creator>Team Cipher</dc:creator>
  <cp:lastModifiedBy>Gunagya Chaturvedi</cp:lastModifiedBy>
  <cp:revision>2</cp:revision>
  <dcterms:created xsi:type="dcterms:W3CDTF">2026-10-14T15:09:56Z</dcterms:created>
  <dcterms:modified xsi:type="dcterms:W3CDTF">2026-10-14T18:30:39Z</dcterms:modified>
</cp:coreProperties>
</file>